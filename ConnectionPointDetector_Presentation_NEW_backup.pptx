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95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32720" cy="7772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3400" b="1" i="0">
                <a:solidFill>
                  <a:srgbClr val="2D2D2D"/>
                </a:solidFill>
                <a:latin typeface="Calibri"/>
              </a:rPr>
              <a:t>WiringRobot.ConnectionPointDetector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017520"/>
            <a:ext cx="10332720" cy="411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127248"/>
            <a:ext cx="10332720" cy="47548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800" b="0" i="0">
                <a:solidFill>
                  <a:srgbClr val="808080"/>
                </a:solidFill>
                <a:latin typeface="Calibri"/>
              </a:rPr>
              <a:t>Automated 3D Connector Component Recognition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Up Arrow Callout 6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8" name="Up Arrow Callout 7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9" name="Up Arrow Callout 8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10" name="Up Arrow Callout 9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11" name="Up Arrow Callout 10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5486400" cy="47548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400" b="1" i="0">
                <a:solidFill>
                  <a:srgbClr val="2D2D2D"/>
                </a:solidFill>
                <a:latin typeface="Calibr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438912" cy="5303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777240"/>
            <a:ext cx="9144000" cy="5303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44168"/>
            <a:ext cx="438912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400" b="1" i="0">
                <a:solidFill>
                  <a:srgbClr val="2D2D2D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344168"/>
            <a:ext cx="9144000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911096"/>
            <a:ext cx="438912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400" b="1" i="0">
                <a:solidFill>
                  <a:srgbClr val="2D2D2D"/>
                </a:solidFill>
                <a:latin typeface="Calibri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1911096"/>
            <a:ext cx="9144000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Software Components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478024"/>
            <a:ext cx="438912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400" b="1" i="0">
                <a:solidFill>
                  <a:srgbClr val="2D2D2D"/>
                </a:solidFill>
                <a:latin typeface="Calibri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2478024"/>
            <a:ext cx="9144000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Machine Learning Backbone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044952"/>
            <a:ext cx="438912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400" b="1" i="0">
                <a:solidFill>
                  <a:srgbClr val="2D2D2D"/>
                </a:solidFill>
                <a:latin typeface="Calibri"/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3044952"/>
            <a:ext cx="9144000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Test Results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611880"/>
            <a:ext cx="438912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400" b="1" i="0">
                <a:solidFill>
                  <a:srgbClr val="2D2D2D"/>
                </a:solidFill>
                <a:latin typeface="Calibri"/>
              </a:rPr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3611880"/>
            <a:ext cx="9144000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Summary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Up Arrow Callout 15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17" name="Up Arrow Callout 16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18" name="Up Arrow Callout 17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19" name="Up Arrow Callout 18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1 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Challenge</a:t>
            </a:r>
          </a:p>
        </p:txBody>
      </p:sp>
      <p:sp>
        <p:nvSpPr>
          <p:cNvPr id="4" name="Up Arrow Callout 3"/>
          <p:cNvSpPr/>
          <p:nvPr/>
        </p:nvSpPr>
        <p:spPr>
          <a:xfrm>
            <a:off x="411480" y="987552"/>
            <a:ext cx="7406640" cy="749808"/>
          </a:xfrm>
          <a:prstGeom prst="upArrowCallou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3200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400" b="1" i="0">
                <a:solidFill>
                  <a:srgbClr val="2D2D2D"/>
                </a:solidFill>
                <a:latin typeface="Calibri"/>
              </a:rPr>
              <a:t>Complexity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6876288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950" b="0" i="0">
                <a:solidFill>
                  <a:srgbClr val="808080"/>
                </a:solidFill>
                <a:latin typeface="Calibri"/>
              </a:rPr>
              <a:t>Manual identification of 3D connector components from CAD data</a:t>
            </a:r>
          </a:p>
        </p:txBody>
      </p:sp>
      <p:sp>
        <p:nvSpPr>
          <p:cNvPr id="7" name="Up Arrow Callout 6"/>
          <p:cNvSpPr/>
          <p:nvPr/>
        </p:nvSpPr>
        <p:spPr>
          <a:xfrm>
            <a:off x="411480" y="1828800"/>
            <a:ext cx="7406640" cy="749808"/>
          </a:xfrm>
          <a:prstGeom prst="upArrowCallou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3200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400" b="1" i="0">
                <a:solidFill>
                  <a:srgbClr val="2D2D2D"/>
                </a:solidFill>
                <a:latin typeface="Calibri"/>
              </a:rPr>
              <a:t>Error Susceptibility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12848"/>
            <a:ext cx="6876288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950" b="0" i="0">
                <a:solidFill>
                  <a:srgbClr val="808080"/>
                </a:solidFill>
                <a:latin typeface="Calibri"/>
              </a:rPr>
              <a:t>No automated validation – wiring errors undetected until robot failure</a:t>
            </a:r>
          </a:p>
        </p:txBody>
      </p:sp>
      <p:sp>
        <p:nvSpPr>
          <p:cNvPr id="10" name="Up Arrow Callout 9"/>
          <p:cNvSpPr/>
          <p:nvPr/>
        </p:nvSpPr>
        <p:spPr>
          <a:xfrm>
            <a:off x="411480" y="2670048"/>
            <a:ext cx="7406640" cy="749808"/>
          </a:xfrm>
          <a:prstGeom prst="upArrowCallou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761488"/>
            <a:ext cx="3200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400" b="1" i="0">
                <a:solidFill>
                  <a:srgbClr val="2D2D2D"/>
                </a:solidFill>
                <a:latin typeface="Calibri"/>
              </a:rPr>
              <a:t>Long Setup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54096"/>
            <a:ext cx="6876288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950" b="0" i="0">
                <a:solidFill>
                  <a:srgbClr val="808080"/>
                </a:solidFill>
                <a:latin typeface="Calibri"/>
              </a:rPr>
              <a:t>Manual geometry configuration required per connector type</a:t>
            </a:r>
          </a:p>
        </p:txBody>
      </p:sp>
      <p:sp>
        <p:nvSpPr>
          <p:cNvPr id="13" name="Up Arrow Callout 12"/>
          <p:cNvSpPr/>
          <p:nvPr/>
        </p:nvSpPr>
        <p:spPr>
          <a:xfrm>
            <a:off x="411480" y="3511296"/>
            <a:ext cx="7406640" cy="749808"/>
          </a:xfrm>
          <a:prstGeom prst="upArrowCallou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602736"/>
            <a:ext cx="3200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400" b="1" i="0">
                <a:solidFill>
                  <a:srgbClr val="2D2D2D"/>
                </a:solidFill>
                <a:latin typeface="Calibri"/>
              </a:rPr>
              <a:t>No Robot-Ready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95344"/>
            <a:ext cx="6876288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950" b="0" i="0">
                <a:solidFill>
                  <a:srgbClr val="808080"/>
                </a:solidFill>
                <a:latin typeface="Calibri"/>
              </a:rPr>
              <a:t>No structured JSON output for entry point, approach vector, insertion axis</a:t>
            </a:r>
          </a:p>
        </p:txBody>
      </p:sp>
      <p:sp>
        <p:nvSpPr>
          <p:cNvPr id="16" name="Oval 15"/>
          <p:cNvSpPr/>
          <p:nvPr/>
        </p:nvSpPr>
        <p:spPr>
          <a:xfrm>
            <a:off x="10012680" y="2651760"/>
            <a:ext cx="1508760" cy="150876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424160" y="2743200"/>
            <a:ext cx="685800" cy="10972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65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Up Arrow Callout 18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1" name="Up Arrow Callout 20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2" name="Up Arrow Callout 21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3" name="Up Arrow Callout 22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2 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C4 Container Diagram – Pipeline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381244" y="822960"/>
            <a:ext cx="1417320" cy="1005840"/>
          </a:xfrm>
          <a:prstGeom prst="rect">
            <a:avLst/>
          </a:prstGeom>
          <a:solidFill>
            <a:srgbClr val="1F3864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«person»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User / Operator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[Provides 3D mesh
+ labels or checkpoint]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9904" y="1810512"/>
            <a:ext cx="0" cy="521208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44768" y="1847088"/>
            <a:ext cx="2194560" cy="402336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  <a:latin typeface="Calibri"/>
              </a:rPr>
              <a:t>Provides mesh + labels
or checkpoint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10881360" cy="3657600"/>
          </a:xfrm>
          <a:prstGeom prst="rect">
            <a:avLst/>
          </a:prstGeom>
          <a:solidFill>
            <a:srgbClr val="D6E4F3"/>
          </a:solidFill>
          <a:ln w="19050">
            <a:solidFill>
              <a:srgbClr val="8080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914400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  <a:latin typeface="Calibri"/>
              </a:rPr>
              <a:t>Control Cabinet Component Detection  [container]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474720"/>
            <a:ext cx="2011680" cy="141732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meshio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[Loads .off / .obj
/ .stl mesh files]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3474720"/>
            <a:ext cx="2011680" cy="141732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remesh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[Scales to target
vertex count (6 000)]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3474720"/>
            <a:ext cx="2011680" cy="141732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infer_pipeline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[DiffusionNet / YOLO
segmentation]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3474720"/>
            <a:ext cx="2011680" cy="141732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connector3d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[3D instance detection
&amp; JSON graph]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26080" y="4183380"/>
            <a:ext cx="365760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303520" y="4183380"/>
            <a:ext cx="365760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60" y="4183380"/>
            <a:ext cx="365760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68128" y="3982212"/>
            <a:ext cx="1188720" cy="5029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  <a:latin typeface="Calibri"/>
              </a:rPr>
              <a:t>→  JSON
    Graph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Up Arrow Callout 17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19" name="Up Arrow Callout 18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1" name="Up Arrow Callout 20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2" name="Up Arrow Callout 21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3  Software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C4 Component Diagram – Software Funktionsblöcke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81244" y="804672"/>
            <a:ext cx="1417320" cy="1005840"/>
          </a:xfrm>
          <a:prstGeom prst="rect">
            <a:avLst/>
          </a:prstGeom>
          <a:solidFill>
            <a:srgbClr val="1F3864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«person»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User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[Provides 3D mesh
or checkpoint]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9904" y="1783080"/>
            <a:ext cx="0" cy="64008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44768" y="1828800"/>
            <a:ext cx="2194560" cy="402336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  <a:latin typeface="Calibri"/>
              </a:rPr>
              <a:t>Provides mesh + labels
or checkpoint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423160"/>
            <a:ext cx="11521440" cy="3474720"/>
          </a:xfrm>
          <a:prstGeom prst="rect">
            <a:avLst/>
          </a:prstGeom>
          <a:solidFill>
            <a:srgbClr val="D6E4F3"/>
          </a:solidFill>
          <a:ln w="19050">
            <a:solidFill>
              <a:srgbClr val="8080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514600"/>
            <a:ext cx="960120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  <a:latin typeface="Calibri"/>
              </a:rPr>
              <a:t>Control Cabinet Component Detection  [container]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" y="3200400"/>
            <a:ext cx="2240280" cy="150876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meshio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[Extracts mesh data
from .off / .obj / .stl]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36392" y="3200400"/>
            <a:ext cx="2240280" cy="150876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remesh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[Generates normalised
mesh (6 000 vertices)]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42432" y="3200400"/>
            <a:ext cx="2240280" cy="150876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infer_pipeline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[Pre-processing:
DiffusionNet / YOLO segm.]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48471" y="3200400"/>
            <a:ext cx="2240280" cy="150876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connector3d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[Validates 3D instances
&amp; builds graph]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61488" y="3954780"/>
            <a:ext cx="374904" cy="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90572" y="3607308"/>
            <a:ext cx="1316736" cy="34747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800" b="0" i="0">
                <a:solidFill>
                  <a:srgbClr val="2D2D2D"/>
                </a:solidFill>
                <a:latin typeface="Calibri"/>
              </a:rPr>
              <a:t>Delivers normalised
mesh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76672" y="3954780"/>
            <a:ext cx="365760" cy="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901184" y="3607308"/>
            <a:ext cx="1316736" cy="34747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800" b="0" i="0">
                <a:solidFill>
                  <a:srgbClr val="2D2D2D"/>
                </a:solidFill>
                <a:latin typeface="Calibri"/>
              </a:rPr>
              <a:t>Passes segmentation
label array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82712" y="3954780"/>
            <a:ext cx="365759" cy="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507223" y="3607308"/>
            <a:ext cx="1316736" cy="34747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800" b="0" i="0">
                <a:solidFill>
                  <a:srgbClr val="2D2D2D"/>
                </a:solidFill>
                <a:latin typeface="Calibri"/>
              </a:rPr>
              <a:t>Prepares 3D
instances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Up Arrow Callout 19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1" name="Up Arrow Callout 20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2" name="Up Arrow Callout 21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3" name="Up Arrow Callout 22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4" name="Up Arrow Callout 23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3  Software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Vision Processing &amp; Detection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2103120"/>
            <a:ext cx="1325880" cy="1188720"/>
          </a:xfrm>
          <a:prstGeom prst="rect">
            <a:avLst/>
          </a:prstGeom>
          <a:solidFill>
            <a:srgbClr val="1F3864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«person»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Operator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[Selects input
files + runs CLI]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08760" y="2697480"/>
            <a:ext cx="1097280" cy="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72768" y="2377440"/>
            <a:ext cx="100584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  <a:latin typeface="Calibri"/>
              </a:rPr>
              <a:t>Uses CLI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6040" y="914400"/>
            <a:ext cx="8138160" cy="5029200"/>
          </a:xfrm>
          <a:prstGeom prst="rect">
            <a:avLst/>
          </a:prstGeom>
          <a:solidFill>
            <a:srgbClr val="F2F6FF"/>
          </a:solidFill>
          <a:ln w="19050">
            <a:solidFill>
              <a:srgbClr val="8080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88920" y="1005840"/>
            <a:ext cx="685800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  <a:latin typeface="Calibri"/>
              </a:rPr>
              <a:t>Vision Processing System  [system]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600200"/>
            <a:ext cx="1691640" cy="365760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«container»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infer_
pipeline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[CLI + Orchestration
[Python]]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600200"/>
            <a:ext cx="2331720" cy="105156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yolo6.py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[YOLOv6 detection on
rendered 6-views]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4526280" y="2125980"/>
            <a:ext cx="411480" cy="1303020"/>
          </a:xfrm>
          <a:prstGeom prst="line">
            <a:avLst/>
          </a:prstGeom>
          <a:ln w="1270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937760" y="2907792"/>
            <a:ext cx="2331720" cy="105156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diffusionnet.py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[DiffusionNet per-vertex
segmentation]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26280" y="3429000"/>
            <a:ext cx="411480" cy="4572"/>
          </a:xfrm>
          <a:prstGeom prst="line">
            <a:avLst/>
          </a:prstGeom>
          <a:ln w="1270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937760" y="4206240"/>
            <a:ext cx="2331720" cy="105156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projection_2d3d.py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[2D detection → 3D
crop recovery]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26280" y="3429000"/>
            <a:ext cx="411480" cy="1303020"/>
          </a:xfrm>
          <a:prstGeom prst="line">
            <a:avLst/>
          </a:prstGeom>
          <a:ln w="1270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0" y="2697480"/>
            <a:ext cx="2331720" cy="118872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«container»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connector3d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[3D instance graph
[Python / NumPy]]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2125980"/>
            <a:ext cx="502920" cy="1165860"/>
          </a:xfrm>
          <a:prstGeom prst="line">
            <a:avLst/>
          </a:prstGeom>
          <a:ln w="1270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269480" y="3291840"/>
            <a:ext cx="502920" cy="141732"/>
          </a:xfrm>
          <a:prstGeom prst="line">
            <a:avLst/>
          </a:prstGeom>
          <a:ln w="1270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269480" y="3291840"/>
            <a:ext cx="502920" cy="1440180"/>
          </a:xfrm>
          <a:prstGeom prst="line">
            <a:avLst/>
          </a:prstGeom>
          <a:ln w="1270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0972800" y="2377440"/>
            <a:ext cx="1143000" cy="1188720"/>
          </a:xfrm>
          <a:prstGeom prst="rect">
            <a:avLst/>
          </a:prstGeom>
          <a:solidFill>
            <a:srgbClr val="505050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«external»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JSON
Graph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[Robot path
planning data]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10104120" y="2971800"/>
            <a:ext cx="868680" cy="3200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588752" y="3108960"/>
            <a:ext cx="841248" cy="34747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800" b="0" i="0">
                <a:solidFill>
                  <a:srgbClr val="2D2D2D"/>
                </a:solidFill>
                <a:latin typeface="Calibri"/>
              </a:rPr>
              <a:t>Pose +
Graph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4297680"/>
            <a:ext cx="1325880" cy="1051560"/>
          </a:xfrm>
          <a:prstGeom prst="rect">
            <a:avLst/>
          </a:prstGeom>
          <a:solidFill>
            <a:srgbClr val="505050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«external»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3D Mesh
(.off/.obj/.stl)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[Camera /
file source]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1508760" y="4800600"/>
            <a:ext cx="1325880" cy="27432"/>
          </a:xfrm>
          <a:prstGeom prst="line">
            <a:avLst/>
          </a:prstGeom>
          <a:ln w="12700">
            <a:solidFill>
              <a:srgbClr val="808080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554480" y="4526280"/>
            <a:ext cx="1005840" cy="34747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800" b="0" i="0">
                <a:solidFill>
                  <a:srgbClr val="808080"/>
                </a:solidFill>
                <a:latin typeface="Calibri"/>
              </a:rPr>
              <a:t>Image data /
file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Up Arrow Callout 26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8" name="Up Arrow Callout 27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9" name="Up Arrow Callout 28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30" name="Up Arrow Callout 29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31" name="Up Arrow Callout 30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3  Software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cp_regressor.py — 7-Channel Per-Vertex Regression 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539496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50800" rtlCol="0" anchor="ctr"/>
          <a:lstStyle/>
          <a:p>
            <a:pPr algn="ctr"/>
            <a:r>
              <a:rPr sz="1300" b="1" i="1">
                <a:solidFill>
                  <a:srgbClr val="FFFFFF"/>
                </a:solidFill>
                <a:latin typeface="Calibri"/>
              </a:rPr>
              <a:t>«class»  CPRegressor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16736"/>
            <a:ext cx="5394960" cy="34747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  N_CHANNELS : int = 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64208"/>
            <a:ext cx="5394960" cy="34747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  backbone   : str   (mlp | knngraph | diffusionnet)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5394960" cy="34747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  loss       : CPLoss   (BCE + MSE + cosine)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59152"/>
            <a:ext cx="5394960" cy="27432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2386584"/>
            <a:ext cx="5394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l"/>
            <a:r>
              <a:rPr sz="950" b="0" i="0">
                <a:solidFill>
                  <a:srgbClr val="2E75B6"/>
                </a:solidFill>
                <a:latin typeface="Calibri"/>
              </a:rPr>
              <a:t>  + forward(verts) -&gt; raw (N, 7)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34056"/>
            <a:ext cx="5394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l"/>
            <a:r>
              <a:rPr sz="950" b="0" i="0">
                <a:solidFill>
                  <a:srgbClr val="2E75B6"/>
                </a:solidFill>
                <a:latin typeface="Calibri"/>
              </a:rPr>
              <a:t>  + pred_to_array(pred, offset_scale) -&gt; array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81528"/>
            <a:ext cx="5394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l"/>
            <a:r>
              <a:rPr sz="950" b="0" i="0">
                <a:solidFill>
                  <a:srgbClr val="2E75B6"/>
                </a:solidFill>
                <a:latin typeface="Calibri"/>
              </a:rPr>
              <a:t>  + prepare_sample(part, dedup) -&gt; dict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429000"/>
            <a:ext cx="5394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l"/>
            <a:r>
              <a:rPr sz="950" b="0" i="0">
                <a:solidFill>
                  <a:srgbClr val="2E75B6"/>
                </a:solidFill>
                <a:latin typeface="Calibri"/>
              </a:rPr>
              <a:t>  + train_knngraph_regressor(...) -&gt; (model, meta)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76472"/>
            <a:ext cx="5394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l"/>
            <a:r>
              <a:rPr sz="950" b="0" i="0">
                <a:solidFill>
                  <a:srgbClr val="2E75B6"/>
                </a:solidFill>
                <a:latin typeface="Calibri"/>
              </a:rPr>
              <a:t>  + train_diffusionnet_regressor(...) -&gt; (model, meta)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251960"/>
            <a:ext cx="5394960" cy="640080"/>
          </a:xfrm>
          <a:prstGeom prst="roundRect">
            <a:avLst/>
          </a:prstGeom>
          <a:solidFill>
            <a:srgbClr val="F0F5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Loss:  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w_h*BCE(heatmap) + w_off*MSE(offset) + w_dir*(1 - cosine(dir, gt_dir))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932688"/>
            <a:ext cx="475488" cy="5120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65976" y="932688"/>
            <a:ext cx="1536192" cy="5120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Group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0456" y="932688"/>
            <a:ext cx="4315968" cy="5120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Description / Formula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444752"/>
            <a:ext cx="475488" cy="5120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65976" y="1444752"/>
            <a:ext cx="1536192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1" i="0">
                <a:solidFill>
                  <a:srgbClr val="2D2D2D"/>
                </a:solidFill>
                <a:latin typeface="Calibri"/>
              </a:rPr>
              <a:t>Heatmap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0456" y="1444752"/>
            <a:ext cx="4315968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sigmoid(raw) -&gt; [0, 1]  --  vertex connection probability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956816"/>
            <a:ext cx="475488" cy="5120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65976" y="1956816"/>
            <a:ext cx="1536192" cy="512064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1" i="0">
                <a:solidFill>
                  <a:srgbClr val="2D2D2D"/>
                </a:solidFill>
                <a:latin typeface="Calibri"/>
              </a:rPr>
              <a:t>Offset dX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0456" y="1956816"/>
            <a:ext cx="4315968" cy="512064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( gt_x - v_x ) / mesh_scale   [normalised mm]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2468880"/>
            <a:ext cx="475488" cy="5120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65976" y="2468880"/>
            <a:ext cx="1536192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1" i="0">
                <a:solidFill>
                  <a:srgbClr val="2D2D2D"/>
                </a:solidFill>
                <a:latin typeface="Calibri"/>
              </a:rPr>
              <a:t>Offset dY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0456" y="2468880"/>
            <a:ext cx="4315968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( gt_y - v_y ) / mesh_scale   [normalised mm]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2980944"/>
            <a:ext cx="475488" cy="5120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65976" y="2980944"/>
            <a:ext cx="1536192" cy="512064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1" i="0">
                <a:solidFill>
                  <a:srgbClr val="2D2D2D"/>
                </a:solidFill>
                <a:latin typeface="Calibri"/>
              </a:rPr>
              <a:t>Offset dZ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0456" y="2980944"/>
            <a:ext cx="4315968" cy="512064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( gt_z - v_z ) / mesh_scale   [normalised mm]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3493008"/>
            <a:ext cx="475488" cy="51206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65976" y="3493008"/>
            <a:ext cx="1536192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1" i="0">
                <a:solidFill>
                  <a:srgbClr val="2D2D2D"/>
                </a:solidFill>
                <a:latin typeface="Calibri"/>
              </a:rPr>
              <a:t>Dir  nX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0456" y="3493008"/>
            <a:ext cx="4315968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unit vector x  --  L2-normalise(pred[4:7])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4005072"/>
            <a:ext cx="475488" cy="51206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65976" y="4005072"/>
            <a:ext cx="1536192" cy="512064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1" i="0">
                <a:solidFill>
                  <a:srgbClr val="2D2D2D"/>
                </a:solidFill>
                <a:latin typeface="Calibri"/>
              </a:rPr>
              <a:t>Dir  nY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0456" y="4005072"/>
            <a:ext cx="4315968" cy="512064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unit vector 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4517136"/>
            <a:ext cx="475488" cy="51206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65976" y="4517136"/>
            <a:ext cx="1536192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1" i="0">
                <a:solidFill>
                  <a:srgbClr val="2D2D2D"/>
                </a:solidFill>
                <a:latin typeface="Calibri"/>
              </a:rPr>
              <a:t>Dir  nZ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0456" y="4517136"/>
            <a:ext cx="4315968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unit vector z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Up Arrow Callout 39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41" name="Up Arrow Callout 40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42" name="Up Arrow Callout 41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43" name="Up Arrow Callout 42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44" name="Up Arrow Callout 43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3  Software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cp_targets.py — Gaussian Encode / NMS Decode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534924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ENCODE  (ground-truth -&gt; target array)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53312"/>
            <a:ext cx="5349240" cy="5303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GT Terminal Block Positions  [G x 3]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0380" y="1883664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65760" y="1975104"/>
            <a:ext cx="534924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sigma = heatmap_sigma x bbox_diagonal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40380" y="2505456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5760" y="2596896"/>
            <a:ext cx="534924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h_v = sum_g exp(-||v-g||^2 / 2*sigma^2)  [heatmap]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40380" y="3127248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65760" y="3218688"/>
            <a:ext cx="534924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offset = (gt_pos - vertex_pos) / mesh_scale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40380" y="3749040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65760" y="3840480"/>
            <a:ext cx="534924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direction = unit(gt_normal)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40380" y="4370832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65760" y="4462272"/>
            <a:ext cx="5349240" cy="53035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-&gt;  N x 7  target array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932688"/>
            <a:ext cx="534924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DECODE  (predictions -&gt; connection points)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353312"/>
            <a:ext cx="5349240" cy="5303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Predicted N x 7  per vertex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75420" y="1883664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400800" y="1975104"/>
            <a:ext cx="534924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Candidate set:  vertices where  h_v &gt; 0.3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75420" y="2505456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400800" y="2596896"/>
            <a:ext cx="534924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Weighted vote:  sum h_v*(v + offset*scale) / sum h_v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75420" y="3127248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400800" y="3218688"/>
            <a:ext cx="534924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NMS radius = max(2*sigma,  clearance_mm)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75420" y="3749040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400800" y="3840480"/>
            <a:ext cx="534924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Keep clusters with  n_votes &gt;= min_votes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075420" y="4370832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400800" y="4462272"/>
            <a:ext cx="5349240" cy="53035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-&gt;  Connection Points  { point, direction, score 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932688"/>
            <a:ext cx="36576" cy="51206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Up Arrow Callout 29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31" name="Up Arrow Callout 30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32" name="Up Arrow Callout 31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33" name="Up Arrow Callout 32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34" name="Up Arrow Callout 33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3  Software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connector3d.py — Union-Find Clustering &amp; Robot Validation Gate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539496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508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Union-Find — Fragment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9576"/>
            <a:ext cx="5394960" cy="22860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900" b="1" i="0">
                <a:solidFill>
                  <a:srgbClr val="2D2D2D"/>
                </a:solidFill>
                <a:latin typeface="Calibri"/>
              </a:rPr>
              <a:t>Fragments</a:t>
            </a:r>
          </a:p>
        </p:txBody>
      </p:sp>
      <p:sp>
        <p:nvSpPr>
          <p:cNvPr id="6" name="Oval 5"/>
          <p:cNvSpPr/>
          <p:nvPr/>
        </p:nvSpPr>
        <p:spPr>
          <a:xfrm>
            <a:off x="530352" y="1435608"/>
            <a:ext cx="822960" cy="47548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7" name="Oval 6"/>
          <p:cNvSpPr/>
          <p:nvPr/>
        </p:nvSpPr>
        <p:spPr>
          <a:xfrm>
            <a:off x="1554480" y="1435608"/>
            <a:ext cx="822960" cy="47548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F2</a:t>
            </a:r>
          </a:p>
        </p:txBody>
      </p:sp>
      <p:sp>
        <p:nvSpPr>
          <p:cNvPr id="8" name="Oval 7"/>
          <p:cNvSpPr/>
          <p:nvPr/>
        </p:nvSpPr>
        <p:spPr>
          <a:xfrm>
            <a:off x="2578608" y="1435608"/>
            <a:ext cx="822960" cy="47548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F3</a:t>
            </a:r>
          </a:p>
        </p:txBody>
      </p:sp>
      <p:sp>
        <p:nvSpPr>
          <p:cNvPr id="9" name="Oval 8"/>
          <p:cNvSpPr/>
          <p:nvPr/>
        </p:nvSpPr>
        <p:spPr>
          <a:xfrm>
            <a:off x="3602736" y="1435608"/>
            <a:ext cx="822960" cy="47548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F4</a:t>
            </a:r>
          </a:p>
        </p:txBody>
      </p:sp>
      <p:sp>
        <p:nvSpPr>
          <p:cNvPr id="10" name="Oval 9"/>
          <p:cNvSpPr/>
          <p:nvPr/>
        </p:nvSpPr>
        <p:spPr>
          <a:xfrm>
            <a:off x="4626864" y="1435608"/>
            <a:ext cx="822960" cy="47548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41832" y="1911096"/>
            <a:ext cx="0" cy="256032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41832" y="2167128"/>
            <a:ext cx="2048256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990088" y="1911096"/>
            <a:ext cx="0" cy="256032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965960" y="1911096"/>
            <a:ext cx="0" cy="256032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965960" y="2167128"/>
            <a:ext cx="2048256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014216" y="1911096"/>
            <a:ext cx="0" cy="256032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014216" y="1911096"/>
            <a:ext cx="0" cy="256032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014216" y="2167128"/>
            <a:ext cx="1024128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038344" y="1911096"/>
            <a:ext cx="0" cy="256032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65760" y="2414016"/>
            <a:ext cx="539496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900" b="0" i="0">
                <a:solidFill>
                  <a:srgbClr val="808080"/>
                </a:solidFill>
                <a:latin typeface="Calibri"/>
              </a:rPr>
              <a:t>cKDTree.query_pairs(search_r)  -&gt;  union(i, j)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063240" y="2688336"/>
            <a:ext cx="0" cy="274320"/>
          </a:xfrm>
          <a:prstGeom prst="line">
            <a:avLst/>
          </a:prstGeom>
          <a:ln w="1651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65760" y="2779776"/>
            <a:ext cx="5394960" cy="22860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900" b="1" i="0">
                <a:solidFill>
                  <a:srgbClr val="2D2D2D"/>
                </a:solidFill>
                <a:latin typeface="Calibri"/>
              </a:rPr>
              <a:t>Instances  (connected components)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035808"/>
            <a:ext cx="150876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I1  {F1, F3}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1720" y="3035808"/>
            <a:ext cx="1508760" cy="566928"/>
          </a:xfrm>
          <a:prstGeom prst="rect">
            <a:avLst/>
          </a:prstGeom>
          <a:solidFill>
            <a:srgbClr val="C05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I2  {F2,F4,F5}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3035808"/>
            <a:ext cx="1508760" cy="56692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I3  {lone}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32688"/>
            <a:ext cx="5532120" cy="3474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508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is_valid_for_robot() — Gate Logic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389888"/>
            <a:ext cx="4352544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skew_angle  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&lt;= max_skew_deg (75 deg)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52760" y="1389888"/>
            <a:ext cx="1143000" cy="5760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x  high_skew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2020824"/>
            <a:ext cx="4352544" cy="57607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feature_area  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&gt;= min_area_mm2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52760" y="2020824"/>
            <a:ext cx="1143000" cy="5760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x  too_small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2651760"/>
            <a:ext cx="4352544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depth_mm  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&gt;= min_insertion_depth_mm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52760" y="2651760"/>
            <a:ext cx="1143000" cy="5760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x  too_shallow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282696"/>
            <a:ext cx="4352544" cy="57607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confidence  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&gt;= required_confidence_score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52760" y="3282696"/>
            <a:ext cx="1143000" cy="5760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x  low_confidence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3913632"/>
            <a:ext cx="4352544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clearance_mm  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&gt;= tool_clearance_mm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52760" y="3913632"/>
            <a:ext cx="1143000" cy="5760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x  obstruction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4636008"/>
            <a:ext cx="5532120" cy="548640"/>
          </a:xfrm>
          <a:prstGeom prst="roundRect">
            <a:avLst/>
          </a:prstGeom>
          <a:solidFill>
            <a:srgbClr val="37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ALL checks passed  -&gt;  is_valid_for_robot = True  [OK]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Up Arrow Callout 38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40" name="Up Arrow Callout 39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41" name="Up Arrow Callout 40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42" name="Up Arrow Callout 41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43" name="Up Arrow Callout 42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3  Software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visualization.py — 6-View Orthographic Renderer + Z-Buffer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32688"/>
            <a:ext cx="539496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100" b="1" i="0">
                <a:solidFill>
                  <a:srgbClr val="2D2D2D"/>
                </a:solidFill>
                <a:latin typeface="Calibri"/>
              </a:rPr>
              <a:t>Six Rendered Views  (512 x 512 px each)</a:t>
            </a:r>
          </a:p>
        </p:txBody>
      </p:sp>
      <p:sp>
        <p:nvSpPr>
          <p:cNvPr id="5" name="Rectangle 4"/>
          <p:cNvSpPr/>
          <p:nvPr/>
        </p:nvSpPr>
        <p:spPr>
          <a:xfrm>
            <a:off x="2125980" y="1755648"/>
            <a:ext cx="114300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+Z  TOP</a:t>
            </a:r>
          </a:p>
        </p:txBody>
      </p:sp>
      <p:sp>
        <p:nvSpPr>
          <p:cNvPr id="6" name="Rectangle 5"/>
          <p:cNvSpPr/>
          <p:nvPr/>
        </p:nvSpPr>
        <p:spPr>
          <a:xfrm>
            <a:off x="2125980" y="2734056"/>
            <a:ext cx="1143000" cy="5669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+Y  FRONT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5980" y="3712464"/>
            <a:ext cx="114300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-Z  BOTTOM</a:t>
            </a:r>
          </a:p>
        </p:txBody>
      </p:sp>
      <p:sp>
        <p:nvSpPr>
          <p:cNvPr id="8" name="Rectangle 7"/>
          <p:cNvSpPr/>
          <p:nvPr/>
        </p:nvSpPr>
        <p:spPr>
          <a:xfrm>
            <a:off x="864108" y="2734056"/>
            <a:ext cx="1143000" cy="566928"/>
          </a:xfrm>
          <a:prstGeom prst="rect">
            <a:avLst/>
          </a:prstGeom>
          <a:solidFill>
            <a:srgbClr val="C05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-X  LEFT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7852" y="2734056"/>
            <a:ext cx="1143000" cy="566928"/>
          </a:xfrm>
          <a:prstGeom prst="rect">
            <a:avLst/>
          </a:prstGeom>
          <a:solidFill>
            <a:srgbClr val="C05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+X  RIGHT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49724" y="2734056"/>
            <a:ext cx="1143000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-Y  REAR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892040"/>
            <a:ext cx="539496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900" b="0" i="0">
                <a:solidFill>
                  <a:srgbClr val="808080"/>
                </a:solidFill>
                <a:latin typeface="Calibri"/>
              </a:rPr>
              <a:t>Axes:  +Y = front  |  +Z = top  |  +X = right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932688"/>
            <a:ext cx="539496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100" b="1" i="0">
                <a:solidFill>
                  <a:srgbClr val="2D2D2D"/>
                </a:solidFill>
                <a:latin typeface="Calibri"/>
              </a:rPr>
              <a:t>Per-View Rendering Pipeline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261872"/>
            <a:ext cx="5394960" cy="4754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3D Mesh  (V, F)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098280" y="1737360"/>
            <a:ext cx="0" cy="82296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400800" y="1819656"/>
            <a:ext cx="539496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Project vertices  -&gt;  2D (orthographic)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98280" y="2295144"/>
            <a:ext cx="0" cy="82296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400800" y="2377440"/>
            <a:ext cx="539496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Pre-compute per-triangle bounding boxes (numpy)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98280" y="2852928"/>
            <a:ext cx="0" cy="82296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400800" y="2935224"/>
            <a:ext cx="539496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Rasterize:  barycentric interpolation per pixel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98280" y="3410712"/>
            <a:ext cx="0" cy="82296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400800" y="3493008"/>
            <a:ext cx="539496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Z-buffer test  (depth-occlusion culling)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98280" y="3968496"/>
            <a:ext cx="0" cy="82296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400800" y="4050792"/>
            <a:ext cx="539496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Shade by  normal . light_dir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98280" y="4526280"/>
            <a:ext cx="0" cy="82296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400800" y="4608576"/>
            <a:ext cx="5394960" cy="47548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-&gt;  6 x uint8  images  (512 x 512 px)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932688"/>
            <a:ext cx="36576" cy="51206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Up Arrow Callout 27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9" name="Up Arrow Callout 28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30" name="Up Arrow Callout 29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31" name="Up Arrow Callout 30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32" name="Up Arrow Callout 31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3  Software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projection_2d3d.py — 2D YOLO Detection -&gt; 3D Mesh Crop Recovery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16636" y="1005840"/>
            <a:ext cx="1691640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Render
6 Views</a:t>
            </a:r>
          </a:p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visualization
.render_view()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08276" y="1485900"/>
            <a:ext cx="201168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409444" y="1005840"/>
            <a:ext cx="1691640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YOLOv6
Detect</a:t>
            </a:r>
          </a:p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yolo6.py
predict()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01084" y="1485900"/>
            <a:ext cx="201168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302252" y="1005840"/>
            <a:ext cx="1691640" cy="960120"/>
          </a:xfrm>
          <a:prstGeom prst="rect">
            <a:avLst/>
          </a:prstGeom>
          <a:solidFill>
            <a:srgbClr val="C05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2D Bounding
Box</a:t>
            </a:r>
          </a:p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[x1,y1,x2,y2]
conf, class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93892" y="1485900"/>
            <a:ext cx="201168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195060" y="1005840"/>
            <a:ext cx="1691640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back_project
_bb()</a:t>
            </a:r>
          </a:p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2D box -&gt;
3D frustum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86700" y="1485900"/>
            <a:ext cx="201168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087868" y="1005840"/>
            <a:ext cx="1691640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vertices_in
_frustum()</a:t>
            </a:r>
          </a:p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N_crop verts
in region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779508" y="1485900"/>
            <a:ext cx="201168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980676" y="1005840"/>
            <a:ext cx="1691640" cy="9601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Mesh
Crop</a:t>
            </a:r>
          </a:p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sub-mesh -&gt;
connector3d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423160"/>
            <a:ext cx="11430000" cy="29260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200" b="1" i="0">
                <a:solidFill>
                  <a:srgbClr val="2D2D2D"/>
                </a:solidFill>
                <a:latin typeface="Calibri"/>
              </a:rPr>
              <a:t>Key Coordinate Transformations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52344"/>
            <a:ext cx="11430000" cy="52120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1.  Orthographic Projection  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P = M_view * V_world   -&gt;   (u, v) = (P_x / focal,  P_y / focal) + image_center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73551"/>
            <a:ext cx="11430000" cy="521207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2.  2D BB -&gt; 3D Frustum  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back_project_bb():  (u,v,depth_range) -&gt; axis-aligned 3D bounding volume in world space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794758"/>
            <a:ext cx="11430000" cy="52120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3.  Frustum Vertex Mask  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vertices_in_frustum():  vertex in frustum iff all 6 half-space constraints satisfied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315965"/>
            <a:ext cx="11430000" cy="521207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4.  Crop Mesh  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Face kept iff all 3 corner vertices lie in the masked set  -&gt;  sub-mesh for connector3d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Up Arrow Callout 20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2" name="Up Arrow Callout 21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3" name="Up Arrow Callout 22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4" name="Up Arrow Callout 23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5" name="Up Arrow Callout 24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3  Software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augment.py — Mesh Augmentation Pipeline for Training Robustness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973836" y="932688"/>
            <a:ext cx="1508760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3D Mesh
(V, F, L)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82596" y="1321308"/>
            <a:ext cx="237744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20340" y="932688"/>
            <a:ext cx="1508760" cy="777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rotate_
mesh()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29100" y="1321308"/>
            <a:ext cx="237744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466844" y="932688"/>
            <a:ext cx="1508760" cy="777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add_vertex
_noise()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75604" y="1321308"/>
            <a:ext cx="237744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213348" y="932688"/>
            <a:ext cx="1508760" cy="777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smooth_
laplacian()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22108" y="1321308"/>
            <a:ext cx="237744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959852" y="932688"/>
            <a:ext cx="1508760" cy="777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arap_
deform()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68612" y="1321308"/>
            <a:ext cx="237744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706356" y="932688"/>
            <a:ext cx="1508760" cy="7772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Augmented
Mesh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057400"/>
            <a:ext cx="530352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rotate_mesh()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404872"/>
            <a:ext cx="5303520" cy="1755648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Random rotation around Z-axis
theta ~ Uniform[0 deg, 360 deg]
v' = R_z(theta) * v
Labels: unchanged (rotation-equivariant)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057400"/>
            <a:ext cx="530352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add_vertex_noise()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404872"/>
            <a:ext cx="5303520" cy="1755648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Gaussian positional noise
v' = v + eps,   eps ~ N(0, noise_scale)
Applied to all vertices independently
Labels: unchanged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270248"/>
            <a:ext cx="530352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smooth_laplacian()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617720"/>
            <a:ext cx="5303520" cy="1755648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Edge-weighted Laplace smoothing
1-3 iterations (config: smooth_iters)
v' = sum_j w_ij * v_j  /  sum_j w_ij
Labels: propagated (majority vote)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270248"/>
            <a:ext cx="530352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arap_deform()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617720"/>
            <a:ext cx="5303520" cy="1755648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As-Rigid-As-Possible deformation
Fixed boundary vertices
scipy sparse solver (conjugate gradient)
Labels: propagated per vertex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Up Arrow Callout 23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5" name="Up Arrow Callout 24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7" name="Up Arrow Callout 26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8" name="Up Arrow Callout 27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4  Machine Learning Backbone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Three Backbone Options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3520440" cy="64008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MLP</a:t>
            </a:r>
          </a:p>
          <a:p>
            <a:pPr algn="ctr"/>
            <a:r>
              <a:rPr sz="900" b="0" i="1">
                <a:solidFill>
                  <a:srgbClr val="FFFFFF"/>
                </a:solidFill>
                <a:latin typeface="Calibri"/>
              </a:rPr>
              <a:t>(smoke-test only)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72768"/>
            <a:ext cx="3520440" cy="393192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Per-vertex MLP on raw XYZ coords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No geometric receptive field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Memorises geometry — does NOT generalise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Only for overfit / sanity-check runs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No extra dependencies (torch only)</a:t>
            </a:r>
          </a:p>
          <a:p>
            <a:pPr algn="l"/>
            <a:endParaRPr sz="950" b="0" i="0">
              <a:solidFill>
                <a:srgbClr val="2D2D2D"/>
              </a:solidFill>
              <a:latin typeface="Calibri"/>
            </a:endParaRPr>
          </a:p>
          <a:p>
            <a:pPr algn="l"/>
            <a:r>
              <a:rPr sz="950" b="1" i="0">
                <a:solidFill>
                  <a:srgbClr val="2E75B6"/>
                </a:solidFill>
                <a:latin typeface="Calibri"/>
              </a:rPr>
              <a:t>▪  Usage: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python train_cp.py ./data --backbone mlp</a:t>
            </a:r>
          </a:p>
        </p:txBody>
      </p:sp>
      <p:sp>
        <p:nvSpPr>
          <p:cNvPr id="6" name="Rectangle 5"/>
          <p:cNvSpPr/>
          <p:nvPr/>
        </p:nvSpPr>
        <p:spPr>
          <a:xfrm>
            <a:off x="4224528" y="932688"/>
            <a:ext cx="352044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KNN Graph
(EdgeConv)</a:t>
            </a:r>
          </a:p>
          <a:p>
            <a:pPr algn="ctr"/>
            <a:r>
              <a:rPr sz="900" b="0" i="1">
                <a:solidFill>
                  <a:srgbClr val="FFFFFF"/>
                </a:solidFill>
                <a:latin typeface="Calibri"/>
              </a:rPr>
              <a:t>(native Windows)</a:t>
            </a:r>
          </a:p>
        </p:txBody>
      </p:sp>
      <p:sp>
        <p:nvSpPr>
          <p:cNvPr id="7" name="Rectangle 6"/>
          <p:cNvSpPr/>
          <p:nvPr/>
        </p:nvSpPr>
        <p:spPr>
          <a:xfrm>
            <a:off x="4224528" y="1572768"/>
            <a:ext cx="3520440" cy="393192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EdgeConv on kNN graph (k=16)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Real geometric receptive field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torch + scipy only — no WSL needed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Runs on native Windows .venv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Best-checkpoint + early-stopping</a:t>
            </a:r>
          </a:p>
          <a:p>
            <a:pPr algn="l"/>
            <a:endParaRPr sz="950" b="0" i="0">
              <a:solidFill>
                <a:srgbClr val="2D2D2D"/>
              </a:solidFill>
              <a:latin typeface="Calibri"/>
            </a:endParaRPr>
          </a:p>
          <a:p>
            <a:pPr algn="l"/>
            <a:r>
              <a:rPr sz="950" b="1" i="0">
                <a:solidFill>
                  <a:srgbClr val="2E75B6"/>
                </a:solidFill>
                <a:latin typeface="Calibri"/>
              </a:rPr>
              <a:t>▪  Usage: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python train_cp.py ./data --backbone knngraph</a:t>
            </a:r>
          </a:p>
        </p:txBody>
      </p:sp>
      <p:sp>
        <p:nvSpPr>
          <p:cNvPr id="8" name="Rectangle 7"/>
          <p:cNvSpPr/>
          <p:nvPr/>
        </p:nvSpPr>
        <p:spPr>
          <a:xfrm>
            <a:off x="8083296" y="932688"/>
            <a:ext cx="3520440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DiffusionNet</a:t>
            </a:r>
          </a:p>
          <a:p>
            <a:pPr algn="ctr"/>
            <a:r>
              <a:rPr sz="900" b="0" i="1">
                <a:solidFill>
                  <a:srgbClr val="FFFFFF"/>
                </a:solidFill>
                <a:latin typeface="Calibri"/>
              </a:rPr>
              <a:t>(production)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8083296" y="1572768"/>
            <a:ext cx="3520440" cy="393192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Spectral diffusion on cotangent Laplacian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Best generalisation on full corpus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Needs robust_laplacian + potpourri3d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Linux / WSL Ubuntu required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Eigenbasis cached per part (op_cache_dir)</a:t>
            </a:r>
          </a:p>
          <a:p>
            <a:pPr algn="l"/>
            <a:endParaRPr sz="950" b="0" i="0">
              <a:solidFill>
                <a:srgbClr val="2D2D2D"/>
              </a:solidFill>
              <a:latin typeface="Calibri"/>
            </a:endParaRPr>
          </a:p>
          <a:p>
            <a:pPr algn="l"/>
            <a:r>
              <a:rPr sz="950" b="1" i="0">
                <a:solidFill>
                  <a:srgbClr val="2E75B6"/>
                </a:solidFill>
                <a:latin typeface="Calibri"/>
              </a:rPr>
              <a:t>▪  Usage: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python train_cp.py ./data --backbone diffusionnet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Up Arrow Callout 10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12" name="Up Arrow Callout 11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13" name="Up Arrow Callout 12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14" name="Up Arrow Callout 13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15" name="Up Arrow Callout 14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4  Machine Learning Backbone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Training Pipeline &amp; Best-Checkpoint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783080"/>
            <a:ext cx="1554480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JSON
Dataset</a:t>
            </a:r>
          </a:p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json_dataset.py
iter_parts()</a:t>
            </a:r>
          </a:p>
        </p:txBody>
      </p:sp>
      <p:sp>
        <p:nvSpPr>
          <p:cNvPr id="5" name="Rectangle 4"/>
          <p:cNvSpPr/>
          <p:nvPr/>
        </p:nvSpPr>
        <p:spPr>
          <a:xfrm>
            <a:off x="2368296" y="1783080"/>
            <a:ext cx="1554480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Sample
Prep</a:t>
            </a:r>
          </a:p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cp_regressor.py
prepare_sample()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5112" y="1783080"/>
            <a:ext cx="1554480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Training
Loop</a:t>
            </a:r>
          </a:p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train_knngraph /
train_diffusionnet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81928" y="1783080"/>
            <a:ext cx="1554480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Val Eval
(F1)</a:t>
            </a:r>
          </a:p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_best_ckpt_eval_fn()
every N epochs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38744" y="1783080"/>
            <a:ext cx="1554480" cy="1280160"/>
          </a:xfrm>
          <a:prstGeom prst="rect">
            <a:avLst/>
          </a:prstGeom>
          <a:solidFill>
            <a:srgbClr val="C05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Best
Checkpoint</a:t>
            </a:r>
          </a:p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save_knngraph /
save_diffusionnet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95560" y="1783080"/>
            <a:ext cx="1554480" cy="12801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Metrics
Report</a:t>
            </a:r>
          </a:p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metrics.py
aggregate()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65960" y="2423160"/>
            <a:ext cx="402336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922776" y="2423160"/>
            <a:ext cx="402336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879592" y="2423160"/>
            <a:ext cx="402336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836408" y="2423160"/>
            <a:ext cx="402336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793224" y="2423160"/>
            <a:ext cx="402336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059168" y="3063240"/>
            <a:ext cx="0" cy="54864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102352" y="3611880"/>
            <a:ext cx="1956816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102352" y="3063240"/>
            <a:ext cx="0" cy="548640"/>
          </a:xfrm>
          <a:prstGeom prst="line">
            <a:avLst/>
          </a:prstGeom>
          <a:ln w="12700">
            <a:solidFill>
              <a:srgbClr val="808080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370832" y="3648456"/>
            <a:ext cx="292608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850" b="0" i="0">
                <a:solidFill>
                  <a:srgbClr val="808080"/>
                </a:solidFill>
                <a:latin typeface="Calibri"/>
              </a:rPr>
              <a:t>early-stop loop  (--patience 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023360"/>
            <a:ext cx="11247120" cy="841248"/>
          </a:xfrm>
          <a:prstGeom prst="roundRect">
            <a:avLst/>
          </a:prstGeom>
          <a:solidFill>
            <a:srgbClr val="F0F5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l"/>
            <a:r>
              <a:rPr sz="1000" b="1" i="0">
                <a:solidFill>
                  <a:srgbClr val="1F3864"/>
                </a:solidFill>
                <a:latin typeface="Calibri"/>
              </a:rPr>
              <a:t>Best-Checkpoint Reload (train_cp.py):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After training, the best-F1 checkpoint is reloaded before final evaluation — ensuring reported metrics reflect the saved model, not the last epoch.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Up Arrow Callout 20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2" name="Up Arrow Callout 21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3" name="Up Arrow Callout 22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4" name="Up Arrow Callout 23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5" name="Up Arrow Callout 24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5  Connection-Point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Robot-Ready JSON Output Fields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2560320" cy="43891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2962656" y="932688"/>
            <a:ext cx="5577840" cy="43891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5603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entry_point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962656" y="1371600"/>
            <a:ext cx="55778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World coordinates the robot tool aims for  [x, y, z]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10512"/>
            <a:ext cx="2560320" cy="43891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approach_vector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2962656" y="1810512"/>
            <a:ext cx="5577840" cy="43891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Outward direction – where the tool approaches FROM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49424"/>
            <a:ext cx="25603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insertion_axis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62656" y="2249424"/>
            <a:ext cx="55778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Inward travel direction during insertion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88336"/>
            <a:ext cx="2560320" cy="43891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insertion_depth_mm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2656" y="2688336"/>
            <a:ext cx="5577840" cy="43891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Depth to insert (centroid-based, mm)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27248"/>
            <a:ext cx="25603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insertion_depth_axis_mm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62656" y="3127248"/>
            <a:ext cx="55778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Physical axis-aligned depth span (mm)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66160"/>
            <a:ext cx="2560320" cy="43891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confidence_score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62656" y="3566160"/>
            <a:ext cx="5577840" cy="43891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Segmentation / detector confidence  [0.0 – 1.0]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05072"/>
            <a:ext cx="25603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is_valid_for_robot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62656" y="4005072"/>
            <a:ext cx="55778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Final validity flag after geometry + tool-clearance checks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443984"/>
            <a:ext cx="2560320" cy="43891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terminal_type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62656" y="4443984"/>
            <a:ext cx="5577840" cy="43891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Terminal hint: screw  |  spring-cage  |  push-in  |  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932688"/>
            <a:ext cx="3200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100" b="1" i="0">
                <a:solidFill>
                  <a:srgbClr val="2D2D2D"/>
                </a:solidFill>
                <a:latin typeface="Calibri"/>
              </a:rPr>
              <a:t>Sample Output (one instance)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0" y="1298448"/>
            <a:ext cx="3200400" cy="4526280"/>
          </a:xfrm>
          <a:prstGeom prst="roundRect">
            <a:avLst/>
          </a:prstGeom>
          <a:solidFill>
            <a:srgbClr val="ECECEC"/>
          </a:solidFill>
          <a:ln w="1016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77800" rIns="76200" bIns="50800" rtlCol="0" anchor="ctr"/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"entry_point": [120.5, 84.2, 0.0]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"approach_vector": [0.0, 0.0, 1.0]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"insertion_axis":  [0.0, 0.0,-1.0]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"insertion_depth_mm":  3.52</a:t>
            </a:r>
          </a:p>
          <a:p>
            <a:pPr algn="l"/>
            <a:r>
              <a:rPr sz="900" b="0" i="0">
                <a:solidFill>
                  <a:srgbClr val="378600"/>
                </a:solidFill>
                <a:latin typeface="Calibri"/>
              </a:rPr>
              <a:t>"confidence_score":    0.94</a:t>
            </a:r>
          </a:p>
          <a:p>
            <a:pPr algn="l"/>
            <a:r>
              <a:rPr sz="900" b="0" i="0">
                <a:solidFill>
                  <a:srgbClr val="378600"/>
                </a:solidFill>
                <a:latin typeface="Calibri"/>
              </a:rPr>
              <a:t>"is_valid_for_robot":  true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"terminal_type":  "screw"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Up Arrow Callout 24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7" name="Up Arrow Callout 26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8" name="Up Arrow Callout 27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9" name="Up Arrow Callout 28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5  Test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Self-Test Suite – python run_selftests.py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2194560" cy="44805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596896" y="932688"/>
            <a:ext cx="7955279" cy="44805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Test Coverage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88751" y="932688"/>
            <a:ext cx="1188720" cy="44805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80744"/>
            <a:ext cx="2194560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meshio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896" y="1380744"/>
            <a:ext cx="7955279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load / save OFF, OBJ, STL  —  round-trip vertex + face assertions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88751" y="1380744"/>
            <a:ext cx="1188720" cy="448056"/>
          </a:xfrm>
          <a:prstGeom prst="rect">
            <a:avLst/>
          </a:prstGeom>
          <a:solidFill>
            <a:srgbClr val="70AD4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PASS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2194560" cy="448056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remesh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96896" y="1828800"/>
            <a:ext cx="7955279" cy="448056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simple &amp; loop subdivision  —  face-count and label-propagation check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88751" y="1828800"/>
            <a:ext cx="1188720" cy="448056"/>
          </a:xfrm>
          <a:prstGeom prst="rect">
            <a:avLst/>
          </a:prstGeom>
          <a:solidFill>
            <a:srgbClr val="70AD4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PASS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76856"/>
            <a:ext cx="2194560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connector3d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96896" y="2276856"/>
            <a:ext cx="7955279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build fragments, merge via cKDTree, 3D instance detection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88751" y="2276856"/>
            <a:ext cx="1188720" cy="448056"/>
          </a:xfrm>
          <a:prstGeom prst="rect">
            <a:avLst/>
          </a:prstGeom>
          <a:solidFill>
            <a:srgbClr val="70AD4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PASS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24912"/>
            <a:ext cx="2194560" cy="448056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visualization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96896" y="2724912"/>
            <a:ext cx="7955279" cy="448056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render_view vectorised bounding-box  —  top-view pixel coverage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88751" y="2724912"/>
            <a:ext cx="1188720" cy="448056"/>
          </a:xfrm>
          <a:prstGeom prst="rect">
            <a:avLst/>
          </a:prstGeom>
          <a:solidFill>
            <a:srgbClr val="70AD4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PASS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172968"/>
            <a:ext cx="2194560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json_dataset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96896" y="3172968"/>
            <a:ext cx="7955279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stream parts from per-part JSON corpus, validate schema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88751" y="3172968"/>
            <a:ext cx="1188720" cy="448056"/>
          </a:xfrm>
          <a:prstGeom prst="rect">
            <a:avLst/>
          </a:prstGeom>
          <a:solidFill>
            <a:srgbClr val="70AD4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PASS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621024"/>
            <a:ext cx="2194560" cy="448056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cp_targets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96896" y="3621024"/>
            <a:ext cx="7955279" cy="448056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encode / decode connection-point targets  —  sigma + max loc-err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88751" y="3621024"/>
            <a:ext cx="1188720" cy="448056"/>
          </a:xfrm>
          <a:prstGeom prst="rect">
            <a:avLst/>
          </a:prstGeom>
          <a:solidFill>
            <a:srgbClr val="70AD4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PASS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069080"/>
            <a:ext cx="2194560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metrics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96896" y="4069080"/>
            <a:ext cx="7955279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precision / recall / F1  +  confusion matrix  (synthetic CPs)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88751" y="4069080"/>
            <a:ext cx="1188720" cy="448056"/>
          </a:xfrm>
          <a:prstGeom prst="rect">
            <a:avLst/>
          </a:prstGeom>
          <a:solidFill>
            <a:srgbClr val="70AD4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PASS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517136"/>
            <a:ext cx="2194560" cy="448056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cp_regressor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96896" y="4517136"/>
            <a:ext cx="7955279" cy="448056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MLP smoke-test  —  recovers 3 of 3 synthetic connection points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88751" y="4517136"/>
            <a:ext cx="1188720" cy="448056"/>
          </a:xfrm>
          <a:prstGeom prst="rect">
            <a:avLst/>
          </a:prstGeom>
          <a:solidFill>
            <a:srgbClr val="70AD4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PASS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965192"/>
            <a:ext cx="2194560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infer_pipeline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96896" y="4965192"/>
            <a:ext cx="7955279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E2E inference pipeline  +  robustness under 5 / 15 / 30 % label noise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88751" y="4965192"/>
            <a:ext cx="1188720" cy="448056"/>
          </a:xfrm>
          <a:prstGeom prst="rect">
            <a:avLst/>
          </a:prstGeom>
          <a:solidFill>
            <a:srgbClr val="70AD4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PASS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5440680"/>
            <a:ext cx="11247120" cy="475488"/>
          </a:xfrm>
          <a:prstGeom prst="roundRect">
            <a:avLst/>
          </a:prstGeom>
          <a:solidFill>
            <a:srgbClr val="37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9 / 9  PASS     ·     0 FAIL     ·     0 SKIP    —    python run_selftests.py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Up Arrow Callout 35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37" name="Up Arrow Callout 36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38" name="Up Arrow Callout 37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39" name="Up Arrow Callout 38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40" name="Up Arrow Callout 39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6 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Achievements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Achievements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Full modular pipeline: mesh → labels → 3D instances → 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965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Three ML backbones: MLP (debug), KNN Graph (Windows), DiffusionNet (production)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21992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Robot-ready output: entry_point, approach_vector, insertion_depth_mm, validity flag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24328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GT-free NMS radius — deployment-realistic, no label leakage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26664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Best-checkpoint training: val-F1 driven, early-stop, automatic reload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cKDTree-accelerated fragment merging — O(n log n) vs O(n²)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3133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9 / 9 self-tests passing across all core modules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960120"/>
            <a:ext cx="27432" cy="495604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41732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Train on full 479-part ABB corpus (Desktop\JSON)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56232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Evaluate DiffusionNet backbone on GPU in WSL / Linux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295144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Integrate trained checkpoint into infer_pipeline CLI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734056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Validate robot-ready JSON against real ABB robot controller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172968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Add STEP → mesh conversion via gmsh for CAD-native 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61188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Extend dataset with augmented meshes (augment.py)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Up Arrow Callout 22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4" name="Up Arrow Callout 23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5" name="Up Arrow Callout 24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7" name="Up Arrow Callout 26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3a28a66c-3c7f-463f-9f3d-483220f1d838}" enabled="1" method="Standard" siteId="{a8218bc3-7d4c-4a61-b912-a6ca487118d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2678</Words>
  <Application>Microsoft Office PowerPoint</Application>
  <PresentationFormat>Custom</PresentationFormat>
  <Paragraphs>502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Bora Ilban Bayrakci</cp:lastModifiedBy>
  <cp:revision>1</cp:revision>
  <dcterms:created xsi:type="dcterms:W3CDTF">2013-01-27T09:14:16Z</dcterms:created>
  <dcterms:modified xsi:type="dcterms:W3CDTF">2026-06-11T08:17:22Z</dcterms:modified>
  <cp:category/>
</cp:coreProperties>
</file>