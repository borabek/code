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p Arrow Callout 1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6684264"/>
            <a:ext cx="70408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WiringRobot.ConnectionPointDetector   |   </a:t>
            </a:r>
            <a:r>
              <a:rPr sz="900" b="1">
                <a:solidFill>
                  <a:srgbClr val="FFFFFF"/>
                </a:solidFill>
                <a:latin typeface="Calibri"/>
              </a:rPr>
              <a:t>BORA BAYRAKCI</a:t>
            </a:r>
            <a:r>
              <a:rPr sz="800" b="0">
                <a:solidFill>
                  <a:srgbClr val="FFFFFF"/>
                </a:solidFill>
                <a:latin typeface="Calibri"/>
              </a:rPr>
              <a:t>   |   R&amp;D RAS  ·  14.08.2026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693408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01168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Calibri"/>
              </a:rPr>
              <a:t>WiringRobot.ConnectionPointDetector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2880360"/>
            <a:ext cx="10332720" cy="36576"/>
          </a:xfrm>
          <a:prstGeom prst="rect">
            <a:avLst/>
          </a:prstGeom>
          <a:solidFill>
            <a:srgbClr val="009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2990088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Calibri"/>
              </a:rPr>
              <a:t>Finding wire entry points on terminal blocks, straight from the CAD 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703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2D2D"/>
                </a:solidFill>
                <a:latin typeface="Calibri"/>
              </a:rPr>
              <a:t>Bora Bayrakci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0233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09090"/>
                </a:solidFill>
                <a:latin typeface="Calibri"/>
              </a:rPr>
              <a:t>R&amp;D RAS  |  Friedhelm Loh Group  |  14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p Arrow Callout 1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6684264"/>
            <a:ext cx="70408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WiringRobot.ConnectionPointDetector   |   </a:t>
            </a:r>
            <a:r>
              <a:rPr sz="900" b="1">
                <a:solidFill>
                  <a:srgbClr val="FFFFFF"/>
                </a:solidFill>
                <a:latin typeface="Calibri"/>
              </a:rPr>
              <a:t>BORA BAYRAKCI</a:t>
            </a:r>
            <a:r>
              <a:rPr sz="800" b="0">
                <a:solidFill>
                  <a:srgbClr val="FFFFFF"/>
                </a:solidFill>
                <a:latin typeface="Calibri"/>
              </a:rPr>
              <a:t>   |   R&amp;D RAS  ·  14.08.2026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693408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What It Does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Calibri"/>
              </a:rPr>
              <a:t>The problem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173736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>
                <a:solidFill>
                  <a:srgbClr val="404040"/>
                </a:solidFill>
                <a:latin typeface="Calibri"/>
              </a:rPr>
              <a:t>A wiring robot has to know where to push the wire in.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>
                <a:solidFill>
                  <a:srgbClr val="404040"/>
                </a:solidFill>
                <a:latin typeface="Calibri"/>
              </a:rPr>
              <a:t>Today someone teaches every terminal type by hand.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>
                <a:solidFill>
                  <a:srgbClr val="404040"/>
                </a:solidFill>
                <a:latin typeface="Calibri"/>
              </a:rPr>
              <a:t>There are thousands of types in the catalogue. That does not scale.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883C"/>
                </a:solidFill>
                <a:latin typeface="Calibri"/>
              </a:rPr>
              <a:t>What my system does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73736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>
                <a:solidFill>
                  <a:srgbClr val="404040"/>
                </a:solidFill>
                <a:latin typeface="Calibri"/>
              </a:rPr>
              <a:t>You give it one CAD file. Nothing else.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>
                <a:solidFill>
                  <a:srgbClr val="404040"/>
                </a:solidFill>
                <a:latin typeface="Calibri"/>
              </a:rPr>
              <a:t>It returns every wire opening: where it is, which way it points, how deep.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>
                <a:solidFill>
                  <a:srgbClr val="404040"/>
                </a:solidFill>
                <a:latin typeface="Calibri"/>
              </a:rPr>
              <a:t>It takes seconds, and it gives the same answer every time.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0690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Why a simple CAD script cannot do this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4348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>
                <a:solidFill>
                  <a:srgbClr val="404040"/>
                </a:solidFill>
                <a:latin typeface="Calibri"/>
              </a:rPr>
              <a:t>A wire opening and a screwdriver opening have the same shape. Only their purpose differs, and shape alone cannot tell you the purpose.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>
                <a:solidFill>
                  <a:srgbClr val="404040"/>
                </a:solidFill>
                <a:latin typeface="Calibri"/>
              </a:rPr>
              <a:t>The manufacturer marks the contact seat, which sits 5 to 25 mm inside the part. The robot needs the mouth on the surface. My system converts one to the other.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p Arrow Callout 1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6684264"/>
            <a:ext cx="70408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WiringRobot.ConnectionPointDetector   |   </a:t>
            </a:r>
            <a:r>
              <a:rPr sz="900" b="1">
                <a:solidFill>
                  <a:srgbClr val="FFFFFF"/>
                </a:solidFill>
                <a:latin typeface="Calibri"/>
              </a:rPr>
              <a:t>BORA BAYRAKCI</a:t>
            </a:r>
            <a:r>
              <a:rPr sz="800" b="0">
                <a:solidFill>
                  <a:srgbClr val="FFFFFF"/>
                </a:solidFill>
                <a:latin typeface="Calibri"/>
              </a:rPr>
              <a:t>   |   R&amp;D RAS  ·  14.08.2026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693408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The Pipeline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1965960"/>
            <a:ext cx="1481328" cy="960120"/>
          </a:xfrm>
          <a:prstGeom prst="roundRect">
            <a:avLst/>
          </a:prstGeom>
          <a:solidFill>
            <a:srgbClr val="EDF3F8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F4E79"/>
                </a:solidFill>
                <a:latin typeface="Calibri"/>
              </a:rPr>
              <a:t>STEP file</a:t>
            </a:r>
          </a:p>
          <a:p>
            <a:pPr algn="ctr"/>
            <a:r>
              <a:rPr sz="900">
                <a:solidFill>
                  <a:srgbClr val="404040"/>
                </a:solidFill>
                <a:latin typeface="Calibri"/>
              </a:rPr>
              <a:t>CAD input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2258568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0D0"/>
                </a:solidFill>
                <a:latin typeface="Calibri"/>
              </a:rPr>
              <a:t>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84832" y="1965960"/>
            <a:ext cx="1481328" cy="960120"/>
          </a:xfrm>
          <a:prstGeom prst="roundRect">
            <a:avLst/>
          </a:prstGeom>
          <a:solidFill>
            <a:srgbClr val="EDF3F8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F4E79"/>
                </a:solidFill>
                <a:latin typeface="Calibri"/>
              </a:rPr>
              <a:t>Tessellation</a:t>
            </a:r>
          </a:p>
          <a:p>
            <a:pPr algn="ctr"/>
            <a:r>
              <a:rPr sz="900">
                <a:solidFill>
                  <a:srgbClr val="404040"/>
                </a:solidFill>
                <a:latin typeface="Calibri"/>
              </a:rPr>
              <a:t>gmsh, 0.5 mm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75304" y="2258568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0D0"/>
                </a:solidFill>
                <a:latin typeface="Calibri"/>
              </a:rP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85616" y="1965960"/>
            <a:ext cx="1481328" cy="960120"/>
          </a:xfrm>
          <a:prstGeom prst="roundRect">
            <a:avLst/>
          </a:prstGeom>
          <a:solidFill>
            <a:srgbClr val="EDF3F8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F4E79"/>
                </a:solidFill>
                <a:latin typeface="Calibri"/>
              </a:rPr>
              <a:t>Remesh</a:t>
            </a:r>
          </a:p>
          <a:p>
            <a:pPr algn="ctr"/>
            <a:r>
              <a:rPr sz="900">
                <a:solidFill>
                  <a:srgbClr val="404040"/>
                </a:solidFill>
                <a:latin typeface="Calibri"/>
              </a:rPr>
              <a:t>6 000 vertices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76088" y="2258568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0D0"/>
                </a:solidFill>
                <a:latin typeface="Calibri"/>
              </a:rPr>
              <a:t>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0" y="1965960"/>
            <a:ext cx="1481328" cy="96012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Segmentation</a:t>
            </a:r>
          </a:p>
          <a:p>
            <a:pPr algn="ctr"/>
            <a:r>
              <a:rPr sz="900">
                <a:solidFill>
                  <a:srgbClr val="E8F2F8"/>
                </a:solidFill>
                <a:latin typeface="Calibri"/>
              </a:rPr>
              <a:t>4 x DiffusionNet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76872" y="2258568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0D0"/>
                </a:solidFill>
                <a:latin typeface="Calibri"/>
              </a:rPr>
              <a:t>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87184" y="1965960"/>
            <a:ext cx="1481328" cy="960120"/>
          </a:xfrm>
          <a:prstGeom prst="roundRect">
            <a:avLst/>
          </a:prstGeom>
          <a:solidFill>
            <a:srgbClr val="EDF3F8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F4E79"/>
                </a:solidFill>
                <a:latin typeface="Calibri"/>
              </a:rPr>
              <a:t>Find openings</a:t>
            </a:r>
          </a:p>
          <a:p>
            <a:pPr algn="ctr"/>
            <a:r>
              <a:rPr sz="900">
                <a:solidFill>
                  <a:srgbClr val="404040"/>
                </a:solidFill>
                <a:latin typeface="Calibri"/>
              </a:rPr>
              <a:t>connected components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77656" y="2258568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0D0"/>
                </a:solidFill>
                <a:latin typeface="Calibri"/>
              </a:rPr>
              <a:t>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87968" y="1965960"/>
            <a:ext cx="1481328" cy="96012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Wire / tool filter</a:t>
            </a:r>
          </a:p>
          <a:p>
            <a:pPr algn="ctr"/>
            <a:r>
              <a:rPr sz="900">
                <a:solidFill>
                  <a:srgbClr val="E8F2F8"/>
                </a:solidFill>
                <a:latin typeface="Calibri"/>
              </a:rPr>
              <a:t>random forest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78440" y="2258568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0D0"/>
                </a:solidFill>
                <a:latin typeface="Calibri"/>
              </a:rPr>
              <a:t>&gt;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588752" y="1965960"/>
            <a:ext cx="1481328" cy="960120"/>
          </a:xfrm>
          <a:prstGeom prst="roundRect">
            <a:avLst/>
          </a:prstGeom>
          <a:solidFill>
            <a:srgbClr val="EDF3F8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F4E79"/>
                </a:solidFill>
                <a:latin typeface="Calibri"/>
              </a:rPr>
              <a:t>Robot output</a:t>
            </a:r>
          </a:p>
          <a:p>
            <a:pPr algn="ctr"/>
            <a:r>
              <a:rPr sz="900">
                <a:solidFill>
                  <a:srgbClr val="404040"/>
                </a:solidFill>
                <a:latin typeface="Calibri"/>
              </a:rPr>
              <a:t>point + signed axis + depth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2461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Blue boxes are learned. The rest is fixed geometry.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639312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Remesh:</a:t>
            </a:r>
            <a:r>
              <a:rPr sz="1400">
                <a:solidFill>
                  <a:srgbClr val="404040"/>
                </a:solidFill>
                <a:latin typeface="Calibri"/>
              </a:rPr>
              <a:t> I rebuild every CAD surface at the same point density the network was trained on. Before I did this, the model did not work on real CAD files at all. This one step is what made it work.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Wire / tool filter:</a:t>
            </a:r>
            <a:r>
              <a:rPr sz="1400">
                <a:solidFill>
                  <a:srgbClr val="404040"/>
                </a:solidFill>
                <a:latin typeface="Calibri"/>
              </a:rPr>
              <a:t> the network can find an opening but cannot say whether a wire or a screwdriver goes in. So I trained a second, small model just for that. It raised precision from 61% to 75%.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Everything else is deterministic:</a:t>
            </a:r>
            <a:r>
              <a:rPr sz="1400">
                <a:solidFill>
                  <a:srgbClr val="404040"/>
                </a:solidFill>
                <a:latin typeface="Calibri"/>
              </a:rPr>
              <a:t> same file in, same coordinates out.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Pose and direction correction: once the gate has decided, I move each point sideways onto the opening axis and fix which way the wire goes in. Two small models do that. Without this step I have an opening, not a coordinate.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p Arrow Callout 1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6684264"/>
            <a:ext cx="70408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WiringRobot.ConnectionPointDetector   |   </a:t>
            </a:r>
            <a:r>
              <a:rPr sz="900" b="1">
                <a:solidFill>
                  <a:srgbClr val="FFFFFF"/>
                </a:solidFill>
                <a:latin typeface="Calibri"/>
              </a:rPr>
              <a:t>BORA BAYRAKCI</a:t>
            </a:r>
            <a:r>
              <a:rPr sz="800" b="0">
                <a:solidFill>
                  <a:srgbClr val="FFFFFF"/>
                </a:solidFill>
                <a:latin typeface="Calibri"/>
              </a:rPr>
              <a:t>   |   R&amp;D RAS  ·  14.08.2026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693408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The Models I Used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1389888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Component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1389888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Method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9" y="1389888"/>
            <a:ext cx="4206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Function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19" y="1389888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Training 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1773936"/>
            <a:ext cx="11064240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1865376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Segmentation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1865376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DiffusionNet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79" y="1865376"/>
            <a:ext cx="4206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labels every surface vertex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19" y="1865376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102 labelled parts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2286000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Ensemble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0360" y="2286000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4 models, combined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79" y="2286000"/>
            <a:ext cx="4206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recovers openings one model misses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19" y="2286000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4 training runs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706624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Opening extraction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360" y="2706624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connected components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79" y="2706624"/>
            <a:ext cx="4206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groups vertices into one opening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19" y="2706624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none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3127248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Insertion axis + pose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80360" y="3127248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ray probing + learned heads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79" y="3127248"/>
            <a:ext cx="4206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gives the approach vector, then corrects sideways offset and insertion sign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19" y="3127248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6 330 matched candidates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3547872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Wire / tool gate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80360" y="3547872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Random Forest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79" y="3547872"/>
            <a:ext cx="4206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removes openings that take no wire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8319" y="3547872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1 906 parts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3968496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Regime router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80360" y="3968496"/>
            <a:ext cx="2331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Random Forest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968496"/>
            <a:ext cx="4206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selects settings per part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8319" y="3968496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1 906 parts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46451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Two different kinds of training data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102 labelled parts are hand-painted vertex by vertex.</a:t>
            </a:r>
            <a:r>
              <a:rPr sz="1400">
                <a:solidFill>
                  <a:srgbClr val="404040"/>
                </a:solidFill>
                <a:latin typeface="Calibri"/>
              </a:rPr>
              <a:t> That is the only way to train this kind of network, and it costs hours per part.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1 906 catalogue parts are point lists from the manufacturer.</a:t>
            </a:r>
            <a:r>
              <a:rPr sz="1400">
                <a:solidFill>
                  <a:srgbClr val="404040"/>
                </a:solidFill>
                <a:latin typeface="Calibri"/>
              </a:rPr>
              <a:t> They train the gate and carry every score in this deck.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p Arrow Callout 1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6684264"/>
            <a:ext cx="70408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WiringRobot.ConnectionPointDetector   |   </a:t>
            </a:r>
            <a:r>
              <a:rPr sz="900" b="1">
                <a:solidFill>
                  <a:srgbClr val="FFFFFF"/>
                </a:solidFill>
                <a:latin typeface="Calibri"/>
              </a:rPr>
              <a:t>BORA BAYRAKCI</a:t>
            </a:r>
            <a:r>
              <a:rPr sz="800" b="0">
                <a:solidFill>
                  <a:srgbClr val="FFFFFF"/>
                </a:solidFill>
                <a:latin typeface="Calibri"/>
              </a:rPr>
              <a:t>   |   R&amp;D RAS  ·  14.08.2026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693408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"/>
            <a:ext cx="11247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1F4E79"/>
                </a:solidFill>
                <a:latin typeface="Calibri"/>
              </a:rPr>
              <a:t>The Words I Use in This </a:t>
            </a:r>
            <a:r>
              <a:rPr lang="en-GB" sz="2600" b="1">
                <a:solidFill>
                  <a:srgbClr val="1F4E79"/>
                </a:solidFill>
                <a:latin typeface="Calibri"/>
              </a:rPr>
              <a:t>Presentation</a:t>
            </a:r>
            <a:endParaRPr sz="2600" b="1" dirty="0">
              <a:solidFill>
                <a:srgbClr val="1F4E79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137160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Term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13716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Definition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1719072"/>
            <a:ext cx="5577840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181051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Connection point (CP)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181051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one wire opening: position + direction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19456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Mesh / vertex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219456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the 3D surface as triangles; a vertex is a corner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57860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Segmentation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257860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labelling every vertex with what it 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296265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Remeshing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296265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rebuilding the surface at a chosen point density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346703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Ensemble</a:t>
            </a:r>
          </a:p>
        </p:txBody>
      </p:sp>
      <p:sp>
        <p:nvSpPr>
          <p:cNvPr id="2" name="TextBox 36"/>
          <p:cNvSpPr txBox="1"/>
          <p:nvPr/>
        </p:nvSpPr>
        <p:spPr>
          <a:xfrm>
            <a:off x="548640" y="3730751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Signed axis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3346703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several models voting together</a:t>
            </a:r>
          </a:p>
        </p:txBody>
      </p:sp>
      <p:sp>
        <p:nvSpPr>
          <p:cNvPr id="3" name="TextBox 37"/>
          <p:cNvSpPr txBox="1"/>
          <p:nvPr/>
        </p:nvSpPr>
        <p:spPr>
          <a:xfrm>
            <a:off x="2926080" y="3730751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the direction the wire goes IN, not just the 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13716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Metric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13716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Definition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1719072"/>
            <a:ext cx="5120640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181051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Precision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181051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of the openings I report, how many are real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219456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Recall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219456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of the real openings, how many I find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25786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F1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257860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precision and recall combined into one score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296265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IoU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296265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how well my labels overlap the correct ones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3346703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Dice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3346703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same idea as IoU, scored a little more softly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44348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Two words about how I test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48006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Out-of-fold:</a:t>
            </a:r>
            <a:r>
              <a:rPr sz="1400">
                <a:solidFill>
                  <a:srgbClr val="404040"/>
                </a:solidFill>
                <a:latin typeface="Calibri"/>
              </a:rPr>
              <a:t> a part is only ever scored by a model that never saw it in training.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Hold-out:</a:t>
            </a:r>
            <a:r>
              <a:rPr sz="1400">
                <a:solidFill>
                  <a:srgbClr val="404040"/>
                </a:solidFill>
                <a:latin typeface="Calibri"/>
              </a:rPr>
              <a:t> a set of parts I locked away before training and opened once, at the end. I did not tune anything against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p Arrow Callout 1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6684264"/>
            <a:ext cx="70408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WiringRobot.ConnectionPointDetector   |   </a:t>
            </a:r>
            <a:r>
              <a:rPr sz="900" b="1">
                <a:solidFill>
                  <a:srgbClr val="FFFFFF"/>
                </a:solidFill>
                <a:latin typeface="Calibri"/>
              </a:rPr>
              <a:t>BORA BAYRAKCI</a:t>
            </a:r>
            <a:r>
              <a:rPr sz="800" b="0">
                <a:solidFill>
                  <a:srgbClr val="FFFFFF"/>
                </a:solidFill>
                <a:latin typeface="Calibri"/>
              </a:rPr>
              <a:t>   |   R&amp;D RAS  ·  14.08.2026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693408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Compared to the Master Thesis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1325880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66160" y="1325880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Master thesis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1325880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My system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1618488"/>
            <a:ext cx="11064240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1709928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Mean IoU (sealed 11-part test)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1709928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Calibri"/>
              </a:rPr>
              <a:t>51.4%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1709928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Calibri"/>
              </a:rPr>
              <a:t>68.0%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039112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Classes over the 50% usable bar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203911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not reported per class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203911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5 of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2368296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Training 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2368296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synthetic plus a little real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2368296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1 906 real catalogue parts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697479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Testing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2697479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one split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2697479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out-of-fold, families kept apart, locked hold-out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3026663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What comes out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0" y="3026663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a labelled surface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3026663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point, axis, approach direction, depth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3355847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Connection-point F1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66160" y="3355847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not measured, and not measurable from IoU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20" y="3355847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Calibri"/>
              </a:rPr>
              <a:t>78.1% detection / 50.4% robot-ready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2062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How I got from the thesis result to mine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1.</a:t>
            </a:r>
            <a:r>
              <a:rPr sz="1400">
                <a:solidFill>
                  <a:srgbClr val="404040"/>
                </a:solidFill>
                <a:latin typeface="Calibri"/>
              </a:rPr>
              <a:t> I rebuilt every mesh at one fixed density. The thesis trained and tested on similar meshes; real CAD files look different, and that gap was the whole problem.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2.</a:t>
            </a:r>
            <a:r>
              <a:rPr sz="1400">
                <a:solidFill>
                  <a:srgbClr val="404040"/>
                </a:solidFill>
                <a:latin typeface="Calibri"/>
              </a:rPr>
              <a:t> I replaced CAD-derived labels with real catalogue data. CAD labels only agree with a human 46% of the time, so they capped the result.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3.</a:t>
            </a:r>
            <a:r>
              <a:rPr sz="1400">
                <a:solidFill>
                  <a:srgbClr val="404040"/>
                </a:solidFill>
                <a:latin typeface="Calibri"/>
              </a:rPr>
              <a:t> I grew the data from 914 to 1 753 parts and added the wire / tool filter, which the thesis does not have at all.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Why my headline looks lower than 68.0%: the thesis measures one step, I measure four. Surface labelling 68.0% IoU, then find the opening 78.1%, then give an axis 59.0%, then give the axis the right SIGN 50.4%. Each step is a harder question than the one before, and the thesis never asks any of them.</a:t>
            </a:r>
            <a:r>
              <a:rPr sz="1400">
                <a:solidFill>
                  <a:srgbClr val="404040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On the one step we share, I am 16.6 points ahead. The rest is not a worse result, it is a different question.</a:t>
            </a:r>
            <a:r>
              <a:rPr sz="1400">
                <a:solidFill>
                  <a:srgbClr val="40404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p Arrow Callout 1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6684264"/>
            <a:ext cx="70408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WiringRobot.ConnectionPointDetector   |   </a:t>
            </a:r>
            <a:r>
              <a:rPr sz="900" b="1">
                <a:solidFill>
                  <a:srgbClr val="FFFFFF"/>
                </a:solidFill>
                <a:latin typeface="Calibri"/>
              </a:rPr>
              <a:t>BORA BAYRAKCI</a:t>
            </a:r>
            <a:r>
              <a:rPr sz="800" b="0">
                <a:solidFill>
                  <a:srgbClr val="FFFFFF"/>
                </a:solidFill>
                <a:latin typeface="Calibri"/>
              </a:rPr>
              <a:t>   |   R&amp;D RAS  ·  14.08.2026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693408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What the Thesis Does Not Solve for a Product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13716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No coordinates for the robot.</a:t>
            </a:r>
            <a:r>
              <a:rPr sz="1400">
                <a:solidFill>
                  <a:srgbClr val="404040"/>
                </a:solidFill>
                <a:latin typeface="Calibri"/>
              </a:rPr>
              <a:t> The thesis outputs a labelled surface. A robot cannot drive to a colour. I derive the opening mouth, the insertion axis, the approach vector and the depth, so the output is an instruction the robot can execute.</a:t>
            </a: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Wire and tool openings are one class by design.</a:t>
            </a:r>
            <a:r>
              <a:rPr sz="1400">
                <a:solidFill>
                  <a:srgbClr val="404040"/>
                </a:solidFill>
                <a:latin typeface="Calibri"/>
              </a:rPr>
              <a:t> The thesis class Contact covers both the contact and the screwdriver slot. A robot following it would push wire into a tool opening. I added a separate classifier for exactly this decision: precision 60.7% to 75.1%.</a:t>
            </a: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The model does not survive real CAD files.</a:t>
            </a:r>
            <a:r>
              <a:rPr sz="1400">
                <a:solidFill>
                  <a:srgbClr val="404040"/>
                </a:solidFill>
                <a:latin typeface="Calibri"/>
              </a:rPr>
              <a:t> Training and test meshes in the thesis look alike; production STEP files do not. I rebuild every surface at one fixed vertex density before inference, and that is what made the model transfer at all.</a:t>
            </a: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One split can hide a leak.</a:t>
            </a:r>
            <a:r>
              <a:rPr sz="1400">
                <a:solidFill>
                  <a:srgbClr val="404040"/>
                </a:solidFill>
                <a:latin typeface="Calibri"/>
              </a:rPr>
              <a:t> Terminal variants differ by millimetres, so a sibling part on the other side of a random split inflates the score. I group by product family, score out-of-fold, and keep a hold-out that was opened once.</a:t>
            </a: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The product metric is never measured.</a:t>
            </a:r>
            <a:r>
              <a:rPr sz="1400">
                <a:solidFill>
                  <a:srgbClr val="404040"/>
                </a:solidFill>
                <a:latin typeface="Calibri"/>
              </a:rPr>
              <a:t> The thesis reports IoU only, which says how well the surface is labelled, not whether the openings are found. I measure CP-F1 against manufacturer data on 1 906 parts: 76.0%.</a:t>
            </a: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A perfect surface label would still not be enough. I measured where the remaining error sits: it is where the point lands, not which class the vertex got. Ignoring direction entirely buys far less than tightening the position.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p Arrow Callout 1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6684264"/>
            <a:ext cx="70408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WiringRobot.ConnectionPointDetector   |   </a:t>
            </a:r>
            <a:r>
              <a:rPr sz="900" b="1">
                <a:solidFill>
                  <a:srgbClr val="FFFFFF"/>
                </a:solidFill>
                <a:latin typeface="Calibri"/>
              </a:rPr>
              <a:t>BORA BAYRAKCI</a:t>
            </a:r>
            <a:r>
              <a:rPr sz="800" b="0">
                <a:solidFill>
                  <a:srgbClr val="FFFFFF"/>
                </a:solidFill>
                <a:latin typeface="Calibri"/>
              </a:rPr>
              <a:t>   |   R&amp;D RAS  ·  14.08.2026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693408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The Settings I Run With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146304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Geometry parameter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146304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Value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1755648"/>
            <a:ext cx="5212080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184708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Tessellation deflection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184708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0.5 mm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17627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Vertices per part after remesh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217627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6 000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50545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Spectral basis (k_eig)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250545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96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2834639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Minimum opening size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2834639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4 vertices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163823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Vertex confidence mask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3163823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Calibri"/>
              </a:rPr>
              <a:t>30%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493007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Terminal merge radius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0" y="3493007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1.0 mm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146304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Decision parameter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146304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Value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1755648"/>
            <a:ext cx="5303520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09360" y="184708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Ensemble members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184708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21762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Votes required to keep a candidate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217627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2505456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Gate rule: score vs the best in the part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250545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Calibri"/>
              </a:rPr>
              <a:t>50% of the part maximum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2834639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Gate rule: absolute floor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2834639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Calibri"/>
              </a:rPr>
              <a:t>20%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3163823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Auto-accept gate score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0" y="3163823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Calibri"/>
              </a:rPr>
              <a:t>60%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3493007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Matching tolerance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3493007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6% of part diagonal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I did not pick these thresholds by eye.</a:t>
            </a:r>
            <a:r>
              <a:rPr sz="1400">
                <a:solidFill>
                  <a:srgbClr val="404040"/>
                </a:solidFill>
                <a:latin typeface="Calibri"/>
              </a:rPr>
              <a:t> I searched them with the part families kept apart, so the search could not cheat. It landed on the value already in the product in 5 out of 5 folds.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p Arrow Callout 1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6684264"/>
            <a:ext cx="70408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WiringRobot.ConnectionPointDetector   |   </a:t>
            </a:r>
            <a:r>
              <a:rPr sz="900" b="1">
                <a:solidFill>
                  <a:srgbClr val="FFFFFF"/>
                </a:solidFill>
                <a:latin typeface="Calibri"/>
              </a:rPr>
              <a:t>BORA BAYRAKCI</a:t>
            </a:r>
            <a:r>
              <a:rPr sz="800" b="0">
                <a:solidFill>
                  <a:srgbClr val="FFFFFF"/>
                </a:solidFill>
                <a:latin typeface="Calibri"/>
              </a:rPr>
              <a:t>   |   R&amp;D RAS  ·  14.08.2026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693408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Segmentation: How Well It Labels the Surface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129844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Mean IoU  (metric used by the master thesis)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79" y="129844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129844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Difference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1591055"/>
            <a:ext cx="11064240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1682495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Master thesis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79" y="1682495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Calibri"/>
              </a:rPr>
              <a:t>51.4%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1682495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-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011679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My model, on the sealed 11-part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79" y="2011679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Calibri"/>
              </a:rPr>
              <a:t>68.0%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011679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+16.6 points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2340863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Weighted by class size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79" y="2340863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Calibri"/>
              </a:rPr>
              <a:t>76.1%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2340863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-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788920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Class (sealed 11-part test)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2788920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IoU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278892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Above 50%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3054096"/>
            <a:ext cx="5577840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3145536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Housing  (the body)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3145536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2D2D"/>
                </a:solidFill>
                <a:latin typeface="Calibri"/>
              </a:rPr>
              <a:t>78.9%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314553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yes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447288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Contact  (metal contact)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0" y="344728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2D2D"/>
                </a:solidFill>
                <a:latin typeface="Calibri"/>
              </a:rPr>
              <a:t>78.7%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0" y="3447288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yes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3749039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LabelSurface  (label area)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4720" y="3749039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2D2D"/>
                </a:solidFill>
                <a:latin typeface="Calibri"/>
              </a:rPr>
              <a:t>65.2%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0" y="3749039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yes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4050791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CableEntry  (wire opening)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74720" y="4050791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2D2D"/>
                </a:solidFill>
                <a:latin typeface="Calibri"/>
              </a:rPr>
              <a:t>64.8%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0" y="4050791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yes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4352544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SnapPoint  (rail clip)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4720" y="4352544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2D2D"/>
                </a:solidFill>
                <a:latin typeface="Calibri"/>
              </a:rPr>
              <a:t>52.3%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54880" y="4352544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yes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2788920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What the 50% line means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3127248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0090D0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50% IoU is the bar the thesis itself calls usable: above it, the labelled area matches the true area more than it misses it.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0090D0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All 5 of my classes clear it. The weakest is SnapPoint, the clip that holds the terminal on the rail, at 52.3%.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0090D0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CableEntry, the class the robot actually depends on, sits at 64.8%. Contact, its neighbour, is at 78.7%.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4892040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Calibri"/>
              </a:rPr>
              <a:t>Accuracy 85.8%   ·   Dice 80.5%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5230368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090D0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Same classes and same metric as the thesis. This is the sealed 11-part test: three human raters, majority vote, opened once.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p Arrow Callout 1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6684264"/>
            <a:ext cx="70408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WiringRobot.ConnectionPointDetector   |   </a:t>
            </a:r>
            <a:r>
              <a:rPr sz="900" b="1">
                <a:solidFill>
                  <a:srgbClr val="FFFFFF"/>
                </a:solidFill>
                <a:latin typeface="Calibri"/>
              </a:rPr>
              <a:t>BORA BAYRAKCI</a:t>
            </a:r>
            <a:r>
              <a:rPr sz="800" b="0">
                <a:solidFill>
                  <a:srgbClr val="FFFFFF"/>
                </a:solidFill>
                <a:latin typeface="Calibri"/>
              </a:rPr>
              <a:t>   |   R&amp;D RAS  ·  14.08.2026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693408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Connection Points: How Well It Finds the Openings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1371600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Evaluation frame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CP-F1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137160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Definition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1664207"/>
            <a:ext cx="11064240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1755648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Detection (does it find the opening)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59" y="17556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Calibri"/>
              </a:rPr>
              <a:t>78.1%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175564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known brand, unseen model  [73.8-82.3]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084831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Robot-ready, SIGNED axis (2 mm + 10 deg)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59" y="2084831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Calibri"/>
              </a:rPr>
              <a:t>50.4%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59" y="2084831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what the robot can act on  [41.7-58.9]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2414015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Robot-ready, axis only (unsigned)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59" y="2414015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Calibri"/>
              </a:rPr>
              <a:t>59.0%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59" y="2414015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the number usually quoted; I quote the signed one  [52.4-65.4]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743199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Ceiling: candidate within 10 mm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59" y="2743199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Calibri"/>
              </a:rPr>
              <a:t>78.2%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59" y="2743199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measured: a correctly-aimed candidate is already there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37033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What the wire / tool filter is worth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06908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Precision went from 60.7% to 75.1%</a:t>
            </a:r>
            <a:r>
              <a:rPr sz="1400">
                <a:solidFill>
                  <a:srgbClr val="404040"/>
                </a:solidFill>
                <a:latin typeface="Calibri"/>
              </a:rPr>
              <a:t> and recall barely moved (68.4% to 65.1%). So three out of four picks are now correct instead of three out of five.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I report the hold-out number, not the development one.</a:t>
            </a:r>
            <a:r>
              <a:rPr sz="1400">
                <a:solidFill>
                  <a:srgbClr val="404040"/>
                </a:solidFill>
                <a:latin typeface="Calibri"/>
              </a:rPr>
              <a:t> Development numbers in this field run about three times too optimistic, and mine did too.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p Arrow Callout 1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6684264"/>
            <a:ext cx="70408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WiringRobot.ConnectionPointDetector   |   </a:t>
            </a:r>
            <a:r>
              <a:rPr sz="900" b="1">
                <a:solidFill>
                  <a:srgbClr val="FFFFFF"/>
                </a:solidFill>
                <a:latin typeface="Calibri"/>
              </a:rPr>
              <a:t>BORA BAYRAKCI</a:t>
            </a:r>
            <a:r>
              <a:rPr sz="800" b="0">
                <a:solidFill>
                  <a:srgbClr val="FFFFFF"/>
                </a:solidFill>
                <a:latin typeface="Calibri"/>
              </a:rPr>
              <a:t>   |   R&amp;D RAS  ·  14.08.2026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693408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1F4E79"/>
                </a:solidFill>
                <a:latin typeface="Calibri"/>
              </a:rPr>
              <a:t>Where It Works Well, and Where It Does Not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1444752"/>
            <a:ext cx="3017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66160" y="1444752"/>
            <a:ext cx="4023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1F4E79"/>
                </a:solidFill>
                <a:latin typeface="Calibri"/>
              </a:rPr>
              <a:t>Low CP density
fewer than 8 connection points</a:t>
            </a:r>
            <a:endParaRPr lang="en-GB" sz="1300" b="1" dirty="0">
              <a:solidFill>
                <a:srgbClr val="1F4E79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89520" y="1444752"/>
            <a:ext cx="4023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High CP density
8 connection points or more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103120"/>
            <a:ext cx="11064240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215798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Share of catalogue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2157984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2D2D2D"/>
                </a:solidFill>
                <a:latin typeface="Calibri"/>
              </a:rPr>
              <a:t>89.5%</a:t>
            </a:r>
            <a:endParaRPr lang="en-GB" sz="1400" b="1" dirty="0">
              <a:solidFill>
                <a:srgbClr val="2D2D2D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589520" y="2157984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2D2D"/>
                </a:solidFill>
                <a:latin typeface="Calibri"/>
              </a:rPr>
              <a:t>10.5%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5420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Representative types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254203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404040"/>
                </a:solidFill>
                <a:latin typeface="Calibri"/>
              </a:rPr>
              <a:t>single- and double-level feed-through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254203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distribution and marshalling blocks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292607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CP-F1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2926079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2D2D"/>
                </a:solidFill>
                <a:latin typeface="Calibri"/>
              </a:rPr>
              <a:t>78.3%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2926079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2D2D"/>
                </a:solidFill>
                <a:latin typeface="Calibri"/>
              </a:rPr>
              <a:t>71.9%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3101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Limiting factor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331012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precision: openings that carry no wire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331012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recall: fewer openings fire at 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369417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Operating mode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0" y="3694176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automatic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3694176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automatic with 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315968"/>
            <a:ext cx="110642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Low CP density covers 89.5% of the catalogue</a:t>
            </a:r>
            <a:r>
              <a:rPr sz="1400">
                <a:solidFill>
                  <a:srgbClr val="404040"/>
                </a:solidFill>
                <a:latin typeface="Calibri"/>
              </a:rPr>
              <a:t>, so the system is usable across most part numbers today.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The high-density deficit had an arithmetic cause.</a:t>
            </a:r>
            <a:r>
              <a:rPr sz="1400">
                <a:solidFill>
                  <a:srgbClr val="404040"/>
                </a:solidFill>
                <a:latin typeface="Calibri"/>
              </a:rPr>
              <a:t> 82.7% of those openings occupied fewer than 30 mesh vertices while the extraction filter required 30. Lowering the threshold for this regime moved it from 55.0% to 77.1%.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400" b="1">
                <a:solidFill>
                  <a:srgbClr val="2D2D2D"/>
                </a:solidFill>
                <a:latin typeface="Calibri"/>
              </a:rPr>
              <a:t>Scores are weighted by the true catalogue distribution.</a:t>
            </a:r>
            <a:r>
              <a:rPr sz="1400">
                <a:solidFill>
                  <a:srgbClr val="404040"/>
                </a:solidFill>
                <a:latin typeface="Calibri"/>
              </a:rPr>
              <a:t> An unweighted average over my test sample would have overstated the result by up to 10 points.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p Arrow Callout 1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6684264"/>
            <a:ext cx="70408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WiringRobot.ConnectionPointDetector   |   </a:t>
            </a:r>
            <a:r>
              <a:rPr sz="900" b="1">
                <a:solidFill>
                  <a:srgbClr val="FFFFFF"/>
                </a:solidFill>
                <a:latin typeface="Calibri"/>
              </a:rPr>
              <a:t>BORA BAYRAKCI</a:t>
            </a:r>
            <a:r>
              <a:rPr sz="800" b="0">
                <a:solidFill>
                  <a:srgbClr val="FFFFFF"/>
                </a:solidFill>
                <a:latin typeface="Calibri"/>
              </a:rPr>
              <a:t>   |   R&amp;D RAS  ·  14.08.2026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693408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1F4E79"/>
                </a:solidFill>
                <a:latin typeface="Calibri"/>
              </a:rPr>
              <a:t>One Part It Gets Right, One It Gets Wrong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1225296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883C"/>
                </a:solidFill>
                <a:latin typeface="Calibri"/>
              </a:rPr>
              <a:t>Right:  PXC 3213608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911081"/>
            <a:ext cx="5532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300" b="1" dirty="0">
                <a:solidFill>
                  <a:srgbClr val="0090D0"/>
                </a:solidFill>
                <a:latin typeface="Calibri"/>
              </a:rPr>
              <a:t>4 openings out of 4 found, and all 4 pass the robot test. One extra pick. F1 88.9%.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300" b="1" dirty="0">
                <a:solidFill>
                  <a:srgbClr val="0090D0"/>
                </a:solidFill>
                <a:latin typeface="Calibri"/>
              </a:rPr>
              <a:t>Position and direction are both inside the robot tolerance on every one of the four.</a:t>
            </a:r>
          </a:p>
          <a:p>
            <a:pPr>
              <a:spcAft>
                <a:spcPts val="900"/>
              </a:spcAft>
            </a:pPr>
            <a:r>
              <a:rPr sz="1300" b="1" dirty="0">
                <a:solidFill>
                  <a:srgbClr val="0090D0"/>
                </a:solidFill>
                <a:latin typeface="Calibri"/>
              </a:rPr>
              <a:t>•  </a:t>
            </a:r>
            <a:r>
              <a:rPr sz="1300" dirty="0">
                <a:solidFill>
                  <a:srgbClr val="404040"/>
                </a:solidFill>
                <a:latin typeface="Calibri"/>
              </a:rPr>
              <a:t>Round, recessed openings on one face, well separated.</a:t>
            </a:r>
            <a:endParaRPr lang="en-GB" sz="1400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99632" y="1225296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392B"/>
                </a:solidFill>
                <a:latin typeface="Calibri"/>
              </a:rPr>
              <a:t>Wrong:  PXC 3071356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632" y="3911081"/>
            <a:ext cx="5532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300" b="1">
                <a:solidFill>
                  <a:srgbClr val="0090D0"/>
                </a:solidFill>
                <a:latin typeface="Calibri"/>
              </a:rPr>
              <a:t>1 opening out of 4 found, and 5 wrong picks. F1 20%.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0090D0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Spring-clamp openings with no round hole. The network does not react to them.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</a:t>
            </a:r>
            <a:r>
              <a:rPr sz="1300" b="1">
                <a:solidFill>
                  <a:srgbClr val="0090D0"/>
                </a:solidFill>
                <a:latin typeface="Calibri"/>
              </a:rPr>
              <a:t>All six picks came back as review, none as automatic. The system knows it is unsure here.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58968"/>
            <a:ext cx="1127455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 dirty="0">
                <a:solidFill>
                  <a:srgbClr val="0090D0"/>
                </a:solidFill>
                <a:latin typeface="Calibri"/>
              </a:rPr>
              <a:t>•  </a:t>
            </a:r>
            <a:r>
              <a:rPr sz="1250" dirty="0">
                <a:solidFill>
                  <a:srgbClr val="404040"/>
                </a:solidFill>
                <a:latin typeface="Calibri"/>
              </a:rPr>
              <a:t>Because I know how it fails. Three of the four are simply not seen; the wrong picks are openings that take no wire. Neither is random.</a:t>
            </a:r>
          </a:p>
          <a:p>
            <a:pPr>
              <a:spcAft>
                <a:spcPts val="800"/>
              </a:spcAft>
            </a:pPr>
            <a:r>
              <a:rPr sz="1250" b="1" dirty="0">
                <a:solidFill>
                  <a:srgbClr val="0090D0"/>
                </a:solidFill>
                <a:latin typeface="Calibri"/>
              </a:rPr>
              <a:t>•  </a:t>
            </a:r>
            <a:r>
              <a:rPr sz="1250" dirty="0">
                <a:solidFill>
                  <a:srgbClr val="404040"/>
                </a:solidFill>
                <a:latin typeface="Calibri"/>
              </a:rPr>
              <a:t>And I checked that it is not a lack of data. Letting the model train on the exact parts it is tested on only gains 0.3 points.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E8AAC5-4049-5262-0D16-04BE674F8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91056"/>
            <a:ext cx="5532120" cy="21737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35CD6A-FE66-94B8-DC72-D5A98053B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591056"/>
            <a:ext cx="5532120" cy="21737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p Arrow Callout 1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6684264"/>
            <a:ext cx="704088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WiringRobot.ConnectionPointDetector   |   </a:t>
            </a:r>
            <a:r>
              <a:rPr sz="900" b="1">
                <a:solidFill>
                  <a:srgbClr val="FFFFFF"/>
                </a:solidFill>
                <a:latin typeface="Calibri"/>
              </a:rPr>
              <a:t>BORA BAYRAKCI</a:t>
            </a:r>
            <a:r>
              <a:rPr sz="800" b="0">
                <a:solidFill>
                  <a:srgbClr val="FFFFFF"/>
                </a:solidFill>
                <a:latin typeface="Calibri"/>
              </a:rPr>
              <a:t>   |   R&amp;D RAS  ·  14.08.2026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693408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Calibri"/>
              </a:rPr>
              <a:t>What I Would Do Next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141732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Next step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59" y="1417320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Expected effect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141732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Status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1709928"/>
            <a:ext cx="11064240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180136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Gate acceptance rule: 50% -&gt; 60% of part max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59" y="1801368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+2.0 points robot-ready, three samples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1801368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done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13055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Pose and direction heads (now shipped)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59" y="213055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measured end to end, shipped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213055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shipped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245973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Ensembles and augmentation variants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59" y="2459736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measured; none cleared the noise band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245973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measured, below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78892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Higher / lower mesh resolution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59" y="2788920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re-measured: lower worse, higher inside noise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278892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measured, dropped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3118103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Per-vertex offset voting for the opening centre</a:t>
            </a:r>
          </a:p>
        </p:txBody>
      </p:sp>
      <p:sp>
        <p:nvSpPr>
          <p:cNvPr id="2" name="TextBox 41"/>
          <p:cNvSpPr txBox="1"/>
          <p:nvPr/>
        </p:nvSpPr>
        <p:spPr>
          <a:xfrm>
            <a:off x="548640" y="344728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Data from manufacturers not in training</a:t>
            </a:r>
          </a:p>
        </p:txBody>
      </p:sp>
      <p:sp>
        <p:nvSpPr>
          <p:cNvPr id="2" name="TextBox 41"/>
          <p:cNvSpPr txBox="1"/>
          <p:nvPr/>
        </p:nvSpPr>
        <p:spPr>
          <a:xfrm>
            <a:off x="548640" y="410565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Three matched runs per segmentation arm</a:t>
            </a:r>
          </a:p>
        </p:txBody>
      </p:sp>
      <p:sp>
        <p:nvSpPr>
          <p:cNvPr id="2" name="TextBox 41"/>
          <p:cNvSpPr txBox="1"/>
          <p:nvPr/>
        </p:nvSpPr>
        <p:spPr>
          <a:xfrm>
            <a:off x="548640" y="377647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Rebuild the high-CP path end to 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59" y="3118103"/>
            <a:ext cx="40233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404040"/>
                </a:solidFill>
                <a:latin typeface="Calibri"/>
              </a:rPr>
              <a:t>direction learned; magnitude still shrinks</a:t>
            </a:r>
            <a:endParaRPr lang="en-GB" sz="1400" b="0" dirty="0">
              <a:solidFill>
                <a:srgbClr val="404040"/>
              </a:solidFill>
              <a:latin typeface="Calibri"/>
            </a:endParaRPr>
          </a:p>
          <a:p>
            <a:pPr algn="l"/>
            <a:endParaRPr lang="en-GB" sz="1400" dirty="0">
              <a:solidFill>
                <a:srgbClr val="404040"/>
              </a:solidFill>
              <a:latin typeface="Calibri"/>
            </a:endParaRPr>
          </a:p>
          <a:p>
            <a:pPr algn="l"/>
            <a:endParaRPr sz="1400" b="0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" name="TextBox 42"/>
          <p:cNvSpPr txBox="1"/>
          <p:nvPr/>
        </p:nvSpPr>
        <p:spPr>
          <a:xfrm>
            <a:off x="5394959" y="3447288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404040"/>
                </a:solidFill>
                <a:latin typeface="Calibri"/>
              </a:rPr>
              <a:t>largest single gap; catalogue exhausted</a:t>
            </a:r>
          </a:p>
        </p:txBody>
      </p:sp>
      <p:sp>
        <p:nvSpPr>
          <p:cNvPr id="3" name="TextBox 42"/>
          <p:cNvSpPr txBox="1"/>
          <p:nvPr/>
        </p:nvSpPr>
        <p:spPr>
          <a:xfrm>
            <a:off x="5394959" y="4105656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404040"/>
                </a:solidFill>
                <a:latin typeface="Calibri"/>
              </a:rPr>
              <a:t>single runs flipped sign four times</a:t>
            </a:r>
          </a:p>
        </p:txBody>
      </p:sp>
      <p:sp>
        <p:nvSpPr>
          <p:cNvPr id="3" name="TextBox 42"/>
          <p:cNvSpPr txBox="1"/>
          <p:nvPr/>
        </p:nvSpPr>
        <p:spPr>
          <a:xfrm>
            <a:off x="5394959" y="377647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404040"/>
                </a:solidFill>
                <a:latin typeface="Calibri"/>
              </a:rPr>
              <a:t>four stale steps fixed; selector still from July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3118103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trained, needs longer</a:t>
            </a:r>
          </a:p>
        </p:txBody>
      </p:sp>
      <p:sp>
        <p:nvSpPr>
          <p:cNvPr id="4" name="TextBox 43"/>
          <p:cNvSpPr txBox="1"/>
          <p:nvPr/>
        </p:nvSpPr>
        <p:spPr>
          <a:xfrm>
            <a:off x="9418320" y="3447288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next</a:t>
            </a:r>
          </a:p>
        </p:txBody>
      </p:sp>
      <p:sp>
        <p:nvSpPr>
          <p:cNvPr id="4" name="TextBox 43"/>
          <p:cNvSpPr txBox="1"/>
          <p:nvPr/>
        </p:nvSpPr>
        <p:spPr>
          <a:xfrm>
            <a:off x="9418320" y="410565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two days</a:t>
            </a:r>
          </a:p>
        </p:txBody>
      </p:sp>
      <p:sp>
        <p:nvSpPr>
          <p:cNvPr id="4" name="TextBox 43"/>
          <p:cNvSpPr txBox="1"/>
          <p:nvPr/>
        </p:nvSpPr>
        <p:spPr>
          <a:xfrm>
            <a:off x="9418320" y="377647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one day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4348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And what I will not claim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8006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The ceiling I can still reach is 78.2%. For that share of the openings a correctly-aimed candidate is already within 10 mm; what is missing is the last few millimetres of position, not the opening itself.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90D0"/>
                </a:solidFill>
                <a:latin typeface="Calibri"/>
              </a:rPr>
              <a:t>•  Threshold tuning is finished, and so is more data from this catalogue. Of 873 parts I was missing, only 7 are published as STEP; the rest exist only in a format a mesh pipeline cannot read. What is left is a new kind of signal.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3a28a66c-3c7f-463f-9f3d-483220f1d838}" enabled="1" method="Standard" siteId="{a8218bc3-7d4c-4a61-b912-a6ca487118d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2587</Words>
  <Application>Microsoft Office PowerPoint</Application>
  <PresentationFormat>Custom</PresentationFormat>
  <Paragraphs>383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Bora Ilban Bayrakci</cp:lastModifiedBy>
  <cp:revision>4</cp:revision>
  <dcterms:created xsi:type="dcterms:W3CDTF">2013-01-27T09:14:16Z</dcterms:created>
  <dcterms:modified xsi:type="dcterms:W3CDTF">2026-08-14T08:31:40Z</dcterms:modified>
  <cp:category/>
</cp:coreProperties>
</file>