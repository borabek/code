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3"/>
    <p:sldId id="274" r:id="rId24"/>
    <p:sldId id="275" r:id="rId25"/>
    <p:sldId id="276" r:id="rId26"/>
    <p:sldId id="277" r:id="rId27"/>
    <p:sldId id="278" r:id="rId28"/>
    <p:sldId id="272" r:id="rId18"/>
    <p:sldId id="286" r:id="rId36"/>
    <p:sldId id="287" r:id="rId37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8" r:id="rId38"/>
    <p:sldId id="289" r:id="rId39"/>
    <p:sldId id="290" r:id="rId4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3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7772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3400" b="1" i="0">
                <a:solidFill>
                  <a:srgbClr val="2D2D2D"/>
                </a:solidFill>
                <a:latin typeface="Calibri"/>
              </a:rPr>
              <a:t>WiringRobot.ConnectionPointDetector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0332720" cy="411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33272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  <a:latin typeface="Calibri"/>
              </a:rPr>
              <a:t>Automated 3D Connector Component Recognition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Up Arrow Callout 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9" name="Up Arrow Callout 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1" name="Up Arrow Callout 1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5486400" cy="47548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400" b="1" i="0">
                <a:solidFill>
                  <a:srgbClr val="2D2D2D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38912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777240"/>
            <a:ext cx="914400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44168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344168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11096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911096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Software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78024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478024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Machine Learning 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44952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044952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Test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11880"/>
            <a:ext cx="438912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400" b="1" i="0">
                <a:solidFill>
                  <a:srgbClr val="2D2D2D"/>
                </a:solidFill>
                <a:latin typeface="Calibri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611880"/>
            <a:ext cx="9144000" cy="530352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Summary  +  Latest Developments (Jul)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Up Arrow Callout 1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7" name="Up Arrow Callout 1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8" name="Up Arrow Callout 1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1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Challenge</a:t>
            </a:r>
          </a:p>
        </p:txBody>
      </p:sp>
      <p:sp>
        <p:nvSpPr>
          <p:cNvPr id="4" name="Up Arrow Callout 3"/>
          <p:cNvSpPr/>
          <p:nvPr/>
        </p:nvSpPr>
        <p:spPr>
          <a:xfrm>
            <a:off x="411480" y="987552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identification of 3D connector components from CAD data</a:t>
            </a:r>
          </a:p>
        </p:txBody>
      </p:sp>
      <p:sp>
        <p:nvSpPr>
          <p:cNvPr id="7" name="Up Arrow Callout 6"/>
          <p:cNvSpPr/>
          <p:nvPr/>
        </p:nvSpPr>
        <p:spPr>
          <a:xfrm>
            <a:off x="411480" y="1828800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Error Susceptibility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automated validation – wiring errors undetected until robot failure</a:t>
            </a:r>
          </a:p>
        </p:txBody>
      </p:sp>
      <p:sp>
        <p:nvSpPr>
          <p:cNvPr id="10" name="Up Arrow Callout 9"/>
          <p:cNvSpPr/>
          <p:nvPr/>
        </p:nvSpPr>
        <p:spPr>
          <a:xfrm>
            <a:off x="411480" y="2670048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Long Setup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54096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Manual geometry configuration required per connector type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11480" y="3511296"/>
            <a:ext cx="7406640" cy="749808"/>
          </a:xfrm>
          <a:prstGeom prst="upArrowCallou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Calibri"/>
              </a:rPr>
              <a:t>No Robot-Ready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95344"/>
            <a:ext cx="6876288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950" b="0" i="0">
                <a:solidFill>
                  <a:srgbClr val="808080"/>
                </a:solidFill>
                <a:latin typeface="Calibri"/>
              </a:rPr>
              <a:t>No structured JSON output for entry point, approach vector, insertion axis</a:t>
            </a:r>
          </a:p>
        </p:txBody>
      </p:sp>
      <p:sp>
        <p:nvSpPr>
          <p:cNvPr id="16" name="Oval 15"/>
          <p:cNvSpPr/>
          <p:nvPr/>
        </p:nvSpPr>
        <p:spPr>
          <a:xfrm>
            <a:off x="10012680" y="2651760"/>
            <a:ext cx="1508760" cy="150876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0" y="2743200"/>
            <a:ext cx="685800" cy="10972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6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Up Arrow Callout 1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2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Container Diagram –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22960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/ 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+ labels 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810512"/>
            <a:ext cx="0" cy="521208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47088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881360" cy="365760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9144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[Loads .off / .obj
/ .stl mesh files]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[Scales to target
vertex count (6 000)]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/ YOLO
segmentation]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2011680" cy="14173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detection
&amp; JSON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4183380"/>
            <a:ext cx="365760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68128" y="3982212"/>
            <a:ext cx="1188720" cy="5029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→  JSON
    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Callout 1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9" name="Up Arrow Callout 1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0" name="Up Arrow Callout 1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C4 Component Diagram – Software Funktionsblöcke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1244" y="804672"/>
            <a:ext cx="1417320" cy="100584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[Provides 3D mesh
or checkpoint]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1783080"/>
            <a:ext cx="0" cy="64008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44768" y="1828800"/>
            <a:ext cx="2194560" cy="40233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Provides mesh + labels
or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11521440" cy="3474720"/>
          </a:xfrm>
          <a:prstGeom prst="rect">
            <a:avLst/>
          </a:prstGeom>
          <a:solidFill>
            <a:srgbClr val="D6E4F3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96012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Control Cabinet Component Detection  [container]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meshio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[Extracts mesh data
from .off / .obj / .stl]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remesh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[Generates normalised
mesh (6 000 vertices)]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432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[Pre-processing:
DiffusionNet / YOLO segm.]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471" y="3200400"/>
            <a:ext cx="2240280" cy="15087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[Validates 3D instances
&amp; builds graph]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61488" y="3954780"/>
            <a:ext cx="374904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90572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Delivers normalised
mesh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76672" y="3954780"/>
            <a:ext cx="36576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01184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Passes segmentation
label array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82712" y="3954780"/>
            <a:ext cx="365759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7223" y="3607308"/>
            <a:ext cx="1316736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Prepares 3D
instances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Up Arrow Callout 1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1" name="Up Arrow Callout 2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Vision Processing &amp; 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103120"/>
            <a:ext cx="1325880" cy="1188720"/>
          </a:xfrm>
          <a:prstGeom prst="rect">
            <a:avLst/>
          </a:prstGeom>
          <a:solidFill>
            <a:srgbClr val="1F3864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«person»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Operator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[Selects input
files + runs CLI]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2697480"/>
            <a:ext cx="1097280" cy="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72768" y="2377440"/>
            <a:ext cx="100584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2D2D2D"/>
                </a:solidFill>
                <a:latin typeface="Calibri"/>
              </a:rPr>
              <a:t>Uses CLI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914400"/>
            <a:ext cx="8138160" cy="5029200"/>
          </a:xfrm>
          <a:prstGeom prst="rect">
            <a:avLst/>
          </a:prstGeom>
          <a:solidFill>
            <a:srgbClr val="F2F6FF"/>
          </a:solidFill>
          <a:ln w="19050">
            <a:solidFill>
              <a:srgbClr val="8080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005840"/>
            <a:ext cx="685800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>Vision Processing System  [system]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00200"/>
            <a:ext cx="1691640" cy="365760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infer_
pipeline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[CLI + Orchestration
[Python]]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0020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yolo6.py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[YOLOv6 detection on
rendered 6-views]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26280" y="212598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37760" y="2907792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diffusionnet.py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[DiffusionNet per-vertex
segmentation]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3429000"/>
            <a:ext cx="411480" cy="457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37760" y="4206240"/>
            <a:ext cx="2331720" cy="105156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«component»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projection_2d3d.py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[2D detection → 3D
crop recovery]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429000"/>
            <a:ext cx="411480" cy="130302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0" y="2697480"/>
            <a:ext cx="2331720" cy="1188720"/>
          </a:xfrm>
          <a:prstGeom prst="rect">
            <a:avLst/>
          </a:prstGeom>
          <a:solidFill>
            <a:srgbClr val="2E75B6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«container»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connector3d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[3D instance graph
[Python / NumPy]]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125980"/>
            <a:ext cx="502920" cy="116586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69480" y="3291840"/>
            <a:ext cx="502920" cy="141732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269480" y="3291840"/>
            <a:ext cx="502920" cy="1440180"/>
          </a:xfrm>
          <a:prstGeom prst="line">
            <a:avLst/>
          </a:prstGeom>
          <a:ln w="1270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972800" y="2377440"/>
            <a:ext cx="1143000" cy="118872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Graph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[Robot path
planning data]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0104120" y="2971800"/>
            <a:ext cx="868680" cy="3200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88752" y="3108960"/>
            <a:ext cx="841248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2D2D2D"/>
                </a:solidFill>
                <a:latin typeface="Calibri"/>
              </a:rPr>
              <a:t>Pose +
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297680"/>
            <a:ext cx="1325880" cy="1051560"/>
          </a:xfrm>
          <a:prstGeom prst="rect">
            <a:avLst/>
          </a:prstGeom>
          <a:solidFill>
            <a:srgbClr val="505050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«external»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3D Mesh
(.off/.obj/.stl)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[Camera /
file source]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08760" y="4800600"/>
            <a:ext cx="1325880" cy="27432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54480" y="4526280"/>
            <a:ext cx="1005840" cy="3474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00" b="0" i="0">
                <a:solidFill>
                  <a:srgbClr val="808080"/>
                </a:solidFill>
                <a:latin typeface="Calibri"/>
              </a:rPr>
              <a:t>Image data /
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Up Arrow Callout 26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cp_regressor.py — 7-Channel Per-Vertex Regression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libri"/>
              </a:rPr>
              <a:t>«class»  CPRegressor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16736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N_CHANNELS : int = 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backbone   : str   (mlp | knngraph | diffusionnet)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394960" cy="3474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  loss       : CPLoss   (BCE + MSE + cosine)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59152"/>
            <a:ext cx="5394960" cy="27432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forward(verts) -&gt; raw (N, 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34056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pred_to_array(pred, offset_scale) -&gt;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81528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prepare_sample(part, dedup) -&gt; 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train_knngraph_regressor(...) -&gt; (model, meta)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76472"/>
            <a:ext cx="53949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l"/>
            <a:r>
              <a:rPr sz="950" b="0" i="0">
                <a:solidFill>
                  <a:srgbClr val="2E75B6"/>
                </a:solidFill>
                <a:latin typeface="Calibri"/>
              </a:rPr>
              <a:t>  + train_diffusionnet_regressor(...) -&gt; (model, meta)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51960"/>
            <a:ext cx="5394960" cy="640080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Loss: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w_h*BCE(heatmap) + w_off*MSE(offset) + w_dir*(1 - cosine(dir, gt_dir))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32688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5976" y="932688"/>
            <a:ext cx="1536192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932688"/>
            <a:ext cx="431596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 / Formula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444752"/>
            <a:ext cx="475488" cy="5120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5976" y="1444752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Heatmap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44752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sigmoid(raw) -&gt; [0, 1]  --  vertex connection probability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956816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5976" y="1956816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0456" y="1956816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gt_x - v_x ) / mesh_scale   [normalised mm]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68880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65976" y="2468880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2468880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gt_y - v_y ) / mesh_scale   [normalised mm]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980944"/>
            <a:ext cx="475488" cy="5120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65976" y="2980944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Offset dZ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2980944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( gt_z - v_z ) / mesh_scale   [normalised 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493008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65976" y="3493008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3493008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x  --  L2-normalise(pred[4:7])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005072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5976" y="4005072"/>
            <a:ext cx="1536192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4005072"/>
            <a:ext cx="4315968" cy="512064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517136"/>
            <a:ext cx="475488" cy="51206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5976" y="4517136"/>
            <a:ext cx="1536192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Dir  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4517136"/>
            <a:ext cx="4315968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unit vector 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Up Arrow Callout 3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4" name="Up Arrow Callout 4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cp_targets.py — Gaussian Encode / NMS Decode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ENCODE  (ground-truth -&gt; target array)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GT Terminal Block Positions  [G x 3]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4038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576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sigma = heatmap_sigma x bbox_diagonal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038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576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h_v = sum_g exp(-||v-g||^2 / 2*sigma^2)  [heatmap]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038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576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offset = (gt_pos - vertex_pos) / mesh_scale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038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direction = unit(gt_normal)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4038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N x 7  target array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932688"/>
            <a:ext cx="53492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DECODE  (predictions -&gt; connection points)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53312"/>
            <a:ext cx="5349240" cy="5303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Predicted N x 7  per vertex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420" y="1883664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1975104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Candidate set:  vertices where  h_v &gt; 0.3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75420" y="2505456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2596896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Weighted vote:  sum h_v*(v + offset*scale) / sum h_v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75420" y="3127248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3218688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NMS radius = max(2*sigma,  clearance_mm)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75420" y="3749040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3840480"/>
            <a:ext cx="5349240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Keep clusters with  n_votes &gt;= min_votes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75420" y="4370832"/>
            <a:ext cx="0" cy="91440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0" y="4462272"/>
            <a:ext cx="5349240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Connection Points  { point, direction, score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Up Arrow Callout 29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3" name="Up Arrow Callout 32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4" name="Up Arrow Callout 33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connector3d.py — Union-Find Clustering &amp; Robot Validation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539496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Union-Find — Fragment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95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Fragments</a:t>
            </a:r>
          </a:p>
        </p:txBody>
      </p:sp>
      <p:sp>
        <p:nvSpPr>
          <p:cNvPr id="6" name="Oval 5"/>
          <p:cNvSpPr/>
          <p:nvPr/>
        </p:nvSpPr>
        <p:spPr>
          <a:xfrm>
            <a:off x="530352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7" name="Oval 6"/>
          <p:cNvSpPr/>
          <p:nvPr/>
        </p:nvSpPr>
        <p:spPr>
          <a:xfrm>
            <a:off x="1554480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F2</a:t>
            </a:r>
          </a:p>
        </p:txBody>
      </p:sp>
      <p:sp>
        <p:nvSpPr>
          <p:cNvPr id="8" name="Oval 7"/>
          <p:cNvSpPr/>
          <p:nvPr/>
        </p:nvSpPr>
        <p:spPr>
          <a:xfrm>
            <a:off x="2578608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F3</a:t>
            </a:r>
          </a:p>
        </p:txBody>
      </p:sp>
      <p:sp>
        <p:nvSpPr>
          <p:cNvPr id="9" name="Oval 8"/>
          <p:cNvSpPr/>
          <p:nvPr/>
        </p:nvSpPr>
        <p:spPr>
          <a:xfrm>
            <a:off x="3602736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F4</a:t>
            </a:r>
          </a:p>
        </p:txBody>
      </p:sp>
      <p:sp>
        <p:nvSpPr>
          <p:cNvPr id="10" name="Oval 9"/>
          <p:cNvSpPr/>
          <p:nvPr/>
        </p:nvSpPr>
        <p:spPr>
          <a:xfrm>
            <a:off x="4626864" y="1435608"/>
            <a:ext cx="822960" cy="475488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90088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65960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65960" y="2167128"/>
            <a:ext cx="204825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14216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14216" y="2167128"/>
            <a:ext cx="1024128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038344" y="1911096"/>
            <a:ext cx="0" cy="256032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2414016"/>
            <a:ext cx="5394960" cy="2560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cKDTree.query_pairs(search_r)  -&gt;  union(i, j)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2688336"/>
            <a:ext cx="0" cy="274320"/>
          </a:xfrm>
          <a:prstGeom prst="line">
            <a:avLst/>
          </a:prstGeom>
          <a:ln w="1651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2779776"/>
            <a:ext cx="5394960" cy="2286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1" i="0">
                <a:solidFill>
                  <a:srgbClr val="2D2D2D"/>
                </a:solidFill>
                <a:latin typeface="Calibri"/>
              </a:rPr>
              <a:t>Instances  (connected components)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35808"/>
            <a:ext cx="150876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I1  {F1, F3}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035808"/>
            <a:ext cx="150876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I2  {F2,F4,F5}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035808"/>
            <a:ext cx="1508760" cy="56692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I3  {lone}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932688"/>
            <a:ext cx="5532120" cy="3474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is_valid_for_robot() — Gate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389888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skew_angle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&lt;= max_skew_deg (75 deg)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52760" y="1389888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high_skew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020824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feature_area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min_area_mm2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52760" y="2020824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too_small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depth_mm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min_insertion_depth_mm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52760" y="2651760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too_shallow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82696"/>
            <a:ext cx="4352544" cy="57607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required_confidence_score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3282696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low_confidence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13632"/>
            <a:ext cx="4352544" cy="5760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clearance_mm  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&gt;= tool_clearance_mm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2760" y="3913632"/>
            <a:ext cx="1143000" cy="57607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x  obstruction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636008"/>
            <a:ext cx="5532120" cy="548640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 checks passed  -&gt;  is_valid_for_robot = True  [OK]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Up Arrow Callout 38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41" name="Up Arrow Callout 40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42" name="Up Arrow Callout 41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3" name="Up Arrow Callout 42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visualization.py — 6-View Orthographic Renderer + Z-Buffer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Six Rendered Views  (512 x 512 px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5980" y="1755648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+Z 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2125980" y="2734056"/>
            <a:ext cx="1143000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+Y  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5980" y="3712464"/>
            <a:ext cx="11430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-Z  BOTTOM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-X  LEFT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7852" y="2734056"/>
            <a:ext cx="1143000" cy="566928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+X 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9724" y="2734056"/>
            <a:ext cx="114300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270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-Y  REAR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892040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  <a:latin typeface="Calibri"/>
              </a:rPr>
              <a:t>Axes:  +Y = front  |  +Z = top  |  +X =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932688"/>
            <a:ext cx="539496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Per-View Rendering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61872"/>
            <a:ext cx="5394960" cy="4754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3D Mesh  (V, F)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173736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0" y="1819656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Project vertices  -&gt;  2D (orthographic)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98280" y="2295144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0" y="2377440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Pre-compute per-triangle bounding boxes (numpy)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2852928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400800" y="2935224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Rasterize:  barycentric interpolation per pixel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280" y="3410712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0" y="3493008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Z-buffer test  (depth-occlusion culling)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3968496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0" y="4050792"/>
            <a:ext cx="5394960" cy="4754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Shade by  normal . light_dir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4526280"/>
            <a:ext cx="0" cy="82296"/>
          </a:xfrm>
          <a:prstGeom prst="line">
            <a:avLst/>
          </a:prstGeom>
          <a:ln w="1524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0" y="4608576"/>
            <a:ext cx="5394960" cy="4754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-&gt;  6 x uint8  images  (512 x 512 px)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932688"/>
            <a:ext cx="36576" cy="51206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Up Arrow Callout 27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0" name="Up Arrow Callout 29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1" name="Up Arrow Callout 30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32" name="Up Arrow Callout 31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projection_2d3d.py — 2D YOLO Detection -&gt; 3D Mesh Crop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636" y="1005840"/>
            <a:ext cx="1691640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Render
6 Views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visualization
.render_view()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08276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409444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YOLOv6
Detect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yolo6.py
predict()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01084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302252" y="1005840"/>
            <a:ext cx="1691640" cy="96012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2D Bounding
Box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[x1,y1,x2,y2]
conf, class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3892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195060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back_project
_bb()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2D box -&gt;
3D frustum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86700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87868" y="1005840"/>
            <a:ext cx="169164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vertices_in
_frustum()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N_crop verts
in region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79508" y="1485900"/>
            <a:ext cx="201168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80676" y="1005840"/>
            <a:ext cx="1691640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Mesh
Crop</a:t>
            </a:r>
          </a:p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sub-mesh -&gt;
connector3d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23160"/>
            <a:ext cx="11430000" cy="29260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Key Coordinate Transformations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52344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1.  Orthographic Projection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 = M_view * V_world   -&gt;   (u, v) = (P_x / focal,  P_y / focal) + image_center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73551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2.  2D BB -&gt; 3D Frustum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back_project_bb():  (u,v,depth_range) -&gt; axis-aligned 3D bounding volume in world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58"/>
            <a:ext cx="11430000" cy="521207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3.  Frustum Vertex Mask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vertices_in_frustum():  vertex in frustum iff all 6 half-space constraints satisfied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15965"/>
            <a:ext cx="11430000" cy="521207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4.  Crop Mesh  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Face kept iff all 3 corner vertices lie in the masked set  -&gt;  sub-mesh for connector3d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3  Software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augment.py — Mesh Augmentation Pipeline for Training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3836" y="932688"/>
            <a:ext cx="1508760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3D Mesh
(V, F, 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82596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20340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rotate_
mesh()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29100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66844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add_vertex
_noise()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5604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3348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smooth_
laplacian()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2108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959852" y="932688"/>
            <a:ext cx="1508760" cy="777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arap_
deform()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68612" y="1321308"/>
            <a:ext cx="237744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706356" y="932688"/>
            <a:ext cx="1508760" cy="777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524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Augmented
Mesh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rotate_mesh()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Random rotation around Z-axis
theta ~ Uniform[0 deg, 360 deg]
v' = R_z(theta) * v
Labels: unchanged (rotation-equivariant)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57400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add_vertex_noise()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04872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Gaussian positional noise
v' = v + eps,   eps ~ N(0, noise_scale)
Applied to all vertices independently
Labels: unchanged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smooth_laplacian()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Edge-weighted Laplace smoothing
1-3 iterations (config: smooth_iters)
v' = sum_j w_ij * v_j  /  sum_j w_ij
Labels: propagated (majority vote)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270248"/>
            <a:ext cx="530352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arap_deform()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303520" cy="1755648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As-Rigid-As-Possible deformation
Fixed boundary vertices
scipy sparse solver (conjugate gradient)
Labels: propagated per vertex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Up Arrow Callout 23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Three Backbone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3520440" cy="6400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MLP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(smoke-test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Per-vertex MLP on raw XYZ coords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Memorises geometry — does NOT generalise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Only for overfit / sanity-check runs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No extra dependencies (torch only)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mlp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932688"/>
            <a:ext cx="352044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KNN Graph
(EdgeConv)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(native Windows)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4528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EdgeConv on kNN graph (k=16)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Real geometric receptive field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torch + scipy only — no WSL needed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Runs on native Windows .venv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Best-checkpoint + early-stopping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knngraph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8083296" y="932688"/>
            <a:ext cx="3520440" cy="640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63500" rIns="76200" b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DiffusionNet</a:t>
            </a:r>
          </a:p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(production)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1572768"/>
            <a:ext cx="3520440" cy="393192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Spectral diffusion on cotangent Laplacian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Best generalisation on full corpus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Needs robust_laplacian + potpourri3d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Linux / WSL Ubuntu required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Eigenbasis cached per part (op_cache_dir)</a:t>
            </a:r>
          </a:p>
          <a:p>
            <a:pPr algn="l"/>
            <a:endParaRPr sz="950" b="0" i="0">
              <a:solidFill>
                <a:srgbClr val="2D2D2D"/>
              </a:solidFill>
              <a:latin typeface="Calibri"/>
            </a:endParaRPr>
          </a:p>
          <a:p>
            <a:pPr algn="l"/>
            <a:r>
              <a:rPr sz="950" b="1" i="0">
                <a:solidFill>
                  <a:srgbClr val="2E75B6"/>
                </a:solidFill>
                <a:latin typeface="Calibri"/>
              </a:rPr>
              <a:t>▪  Usage: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▪  python train_cp.py ./data --backbone diffusionnet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Up Arrow Callout 1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12" name="Up Arrow Callout 1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13" name="Up Arrow Callout 1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14" name="Up Arrow Callout 1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15" name="Up Arrow Callout 1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4  Machine Learning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Training Pipeline &amp; Best-Checkpoint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783080"/>
            <a:ext cx="155448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JSON
Dataset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json_dataset.py
iter_parts()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8296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Sample
Prep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cp_regressor.py
prepare_sample()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5112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Training
Loop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train_knngraph /
train_diffusionnet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783080"/>
            <a:ext cx="155448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 Eval
(F1)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_best_ckpt_eval_fn()
every N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8744" y="1783080"/>
            <a:ext cx="1554480" cy="1280160"/>
          </a:xfrm>
          <a:prstGeom prst="rect">
            <a:avLst/>
          </a:prstGeom>
          <a:solidFill>
            <a:srgbClr val="C05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Best
Checkpoint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save_knngraph /
save_diffusionnet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95560" y="1783080"/>
            <a:ext cx="1554480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Metrics
Report</a:t>
            </a:r>
          </a:p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metrics.py
aggregate()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22776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79592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36408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93224" y="2423160"/>
            <a:ext cx="402336" cy="0"/>
          </a:xfrm>
          <a:prstGeom prst="line">
            <a:avLst/>
          </a:prstGeom>
          <a:ln w="19050">
            <a:solidFill>
              <a:srgbClr val="2D2D2D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59168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02352" y="3611880"/>
            <a:ext cx="1956816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02352" y="3063240"/>
            <a:ext cx="0" cy="548640"/>
          </a:xfrm>
          <a:prstGeom prst="line">
            <a:avLst/>
          </a:prstGeom>
          <a:ln w="12700">
            <a:solidFill>
              <a:srgbClr val="808080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70832" y="3648456"/>
            <a:ext cx="292608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850" b="0" i="0">
                <a:solidFill>
                  <a:srgbClr val="808080"/>
                </a:solidFill>
                <a:latin typeface="Calibri"/>
              </a:rPr>
              <a:t>early-stop loop  (--patience 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23360"/>
            <a:ext cx="11247120" cy="841248"/>
          </a:xfrm>
          <a:prstGeom prst="round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88900" rIns="76200" bIns="50800" rtlCol="0" anchor="ctr"/>
          <a:lstStyle/>
          <a:p>
            <a:pPr algn="l"/>
            <a:r>
              <a:rPr sz="1000" b="1" i="0">
                <a:solidFill>
                  <a:srgbClr val="1F3864"/>
                </a:solidFill>
                <a:latin typeface="Calibri"/>
              </a:rPr>
              <a:t>Best-Checkpoint Reload (train_cp.py):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After training, the best-F1 checkpoint is reloaded before final evaluation — ensuring reported metrics reflect the saved model, not the last epoch.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Up Arrow Callout 20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2" name="Up Arrow Callout 21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3" name="Up Arrow Callout 22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Connection-Point 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Robot-Ready JSON Output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56032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2656" y="932688"/>
            <a:ext cx="5577840" cy="43891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entry_point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2656" y="1371600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World coordinates the robot tool aims for  [x, y, z]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approach_vector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2656" y="1810512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Outward direction – where the tool approaches FROM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insertion_axis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62656" y="2249424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Inward travel direction during insertion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2688336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Depth to insert (centroid-based, mm)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insertion_depth_axis_mm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2656" y="3127248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Physical axis-aligned depth span (mm)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confidence_score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62656" y="3566160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Segmentation / detector confidence  [0.0 – 1.0]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25603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is_valid_for_robot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62656" y="4005072"/>
            <a:ext cx="55778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Final validity flag after geometry + tool-clearance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43984"/>
            <a:ext cx="256032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terminal_type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62656" y="4443984"/>
            <a:ext cx="5577840" cy="438912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0" i="0">
                <a:solidFill>
                  <a:srgbClr val="2D2D2D"/>
                </a:solidFill>
                <a:latin typeface="Calibri"/>
              </a:rPr>
              <a:t>Terminal hint: screw  |  spring-cage  |  push-in  | 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932688"/>
            <a:ext cx="3200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100" b="1" i="0">
                <a:solidFill>
                  <a:srgbClr val="2D2D2D"/>
                </a:solidFill>
                <a:latin typeface="Calibri"/>
              </a:rPr>
              <a:t>Sample Output (one instance)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298448"/>
            <a:ext cx="3200400" cy="4526280"/>
          </a:xfrm>
          <a:prstGeom prst="roundRect">
            <a:avLst/>
          </a:prstGeom>
          <a:solidFill>
            <a:srgbClr val="ECECEC"/>
          </a:solidFill>
          <a:ln w="1016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77800" rIns="76200" bIns="50800" rtlCol="0" anchor="ctr"/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"entry_point": [120.5, 84.2, 0.0]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"approach_vector": [0.0, 0.0, 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"insertion_axis":  [0.0, 0.0,-1.0]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"insertion_depth_mm":  3.52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"confidence_score":    0.94</a:t>
            </a:r>
          </a:p>
          <a:p>
            <a:pPr algn="l"/>
            <a:r>
              <a:rPr sz="900" b="0" i="0">
                <a:solidFill>
                  <a:srgbClr val="378600"/>
                </a:solidFill>
                <a:latin typeface="Calibri"/>
              </a:rPr>
              <a:t>"is_valid_for_robot":  true</a:t>
            </a:r>
          </a:p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"terminal_type":  "screw"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Up Arrow Callout 24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8" name="Up Arrow Callout 27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9" name="Up Arrow Callout 28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5 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Self-Test Suite – python run_selftests.py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19456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96896" y="932688"/>
            <a:ext cx="7955279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88751" y="932688"/>
            <a:ext cx="1188720" cy="44805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0744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meshio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896" y="1380744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load / save OFF, OBJ, STL  —  round-trip vertex + face assertions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88751" y="138074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remesh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96896" y="1828800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simple &amp; loop subdivision  —  face-count and label-propagation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1" y="182880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connector3d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6896" y="2276856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build fragments, merge via cKDTree, 3D instance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751" y="227685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24912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visualization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724912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render_view vectorised bounding-box  —  top-view pixel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88751" y="272491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json_dataset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96896" y="3172968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stream parts from per-part JSON corpus, validate schema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88751" y="3172968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21024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cp_targets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96896" y="3621024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encode / decode connection-point targets  —  sigma + max loc-err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88751" y="3621024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6896" y="4069080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precision / recall / F1  +  confusion matrix  (synthetic CPs)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88751" y="4069080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17136"/>
            <a:ext cx="2194560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cp_regressor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4517136"/>
            <a:ext cx="7955279" cy="448056"/>
          </a:xfrm>
          <a:prstGeom prst="rect">
            <a:avLst/>
          </a:prstGeom>
          <a:solidFill>
            <a:srgbClr val="ECECEC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MLP smoke-test  —  recovers 3 of 3 synthetic connection 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88751" y="4517136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65192"/>
            <a:ext cx="2194560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infer_pipeline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96896" y="4965192"/>
            <a:ext cx="7955279" cy="44805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14300" rIns="76200" bIns="50800" rtlCol="0" anchor="ctr"/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E2E inference pipeline  +  robustness under 5 / 15 / 30 % label noise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1" y="4965192"/>
            <a:ext cx="1188720" cy="448056"/>
          </a:xfrm>
          <a:prstGeom prst="rect">
            <a:avLst/>
          </a:prstGeom>
          <a:solidFill>
            <a:srgbClr val="70AD47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  PASS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440680"/>
            <a:ext cx="11247120" cy="475488"/>
          </a:xfrm>
          <a:prstGeom prst="roundRect">
            <a:avLst/>
          </a:prstGeom>
          <a:solidFill>
            <a:srgbClr val="37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101600" rIns="76200" bIns="5080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 / 9  PASS     ·     0 FAIL     ·     0 SKIP    —    python run_selftests.py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Up Arrow Callout 35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37" name="Up Arrow Callout 36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38" name="Up Arrow Callout 37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39" name="Up Arrow Callout 38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40" name="Up Arrow Callout 39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11.06.2026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Architecture Pivot — Jun → Jul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Earlier approach (Jun)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Render 6 orthographic views of the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YOLOv6 2D detection → 3D crop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DiffusionNet spectral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Required WSL / Linux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Learned from rendered 2D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Current approach (Jul)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STEP B-rep → gmsh tessellation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CAD-direct opening extraction =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HierPoint per-vertex 3D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Native Windows GPU — no WSL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Learns from 3D geometry directly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Current Pipeline — CAD-Direct + HierPoint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Pipeline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STEP file → gmsh tessellation (0.5 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step_openings.py: cylinder/opening → pseudo-labels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HierPoint: FPS pooling + EdgeConv, 7-ch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Gaussian-vote decode → connection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Robot-ready JSON (entry_point, approach_vector 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Spatial patching of large meshes (full density)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Disk-cached pooling hierarchies (lazy load)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Source-free training — fits a 31 GB 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int32 kNN graphs, chunked forward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Single laptop GPU (NVIDIA T1200, 4 GB)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WSCAD Training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Corpus (v8)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3033 terminal-block parts (WSCAD-Universe STEP)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CAD-direct labels: 25,529 connection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Geometry-grouped split — no train/val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12,556 spatial-patch training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Evaluation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Metric: Jaccard accuracy = TP / (TP+FP+FN)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Frozen val (278) / held-out test (284)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Scored vs CAD labels — no human-GT, no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5 mm match tolerance, single-shot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Results — Convergence (Work in Progress)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v31 convergence on WSCAD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F1: ep5 0.706 · ep15 0.771 · ep25 0.804 —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Full-coverage Jaccard 0.55 → 0.67, target ~0.74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Reference: v28 milestone F1 0.898 (earlier corpus)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Training ongoing — not a final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Post-training levers (no retrain)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Octahedral TTA (axis-preserving)   +0.01–0.03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Snapshot ensemble (multi-epoch)    +0.01–0.02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Decode calibration (threshold / NMS)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Locked operating point → single-shot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Selective Prediction — Automation vs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Not every part is equally certain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Per-part risk score → abstain on hard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Accepted → automated; rest → 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Report accuracy + coverage + automation yield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Measured (v31, in progress)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≥ 0.90 Jaccard on least-risky ~40–50 % of parts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Oracle upper bound: 0.90 at ~50 %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Roadmap: better risk score + convergence → 55–65 %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Honest rule: &lt; 50 % ⇒ human-review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7  Latest Developments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Key Finding — Ground Truth Sets the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we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 pseudo-labels vs 9-part human GT: F1 ≈ 0.46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Labels over-mark (mounting/screw/vent holes)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… also under-mark and mis-locate a mid-bore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The model already reproduces CAD labels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What it means (de-risks the roadmap)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Human-aligned 0.90 needs human labels, not more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Next lever = label quality, not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Plan: 100–150 human-labeled parts as true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Full-coverage vs selective reported separately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8016"/>
            <a:ext cx="10515600" cy="42062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>
                <a:solidFill>
                  <a:srgbClr val="2D2D2D"/>
                </a:solidFill>
                <a:latin typeface="Calibri"/>
              </a:rPr>
              <a:t>8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05156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Achieved (Jun → Jul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CAD-direct labelling: STEP → gmsh → openings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HierPoint backbone on native Windows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21992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WSCAD corpus: 3033 parts, leakage-free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4328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Honest metric: Jaccard vs CAD labels, no human-GT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Selective prediction + TTA/ensemble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▪  54 automated tests green across the toolchain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31336"/>
            <a:ext cx="5212080" cy="39319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960120"/>
            <a:ext cx="27432" cy="4956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960120"/>
            <a:ext cx="5669280" cy="3840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Roadmap (next)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1732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Finish v31 convergence + TTA + snapshot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56232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Improved selective risk score → higher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95144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Human-labeled benchmark → path to aligned 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34056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v32 regularization run (octahedral augment + WD)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72968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▶  Locked single-shot test, then robot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5486400" cy="4114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Up Arrow Callout 22"/>
          <p:cNvSpPr/>
          <p:nvPr/>
        </p:nvSpPr>
        <p:spPr>
          <a:xfrm>
            <a:off x="1828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ENCLOSURES</a:t>
            </a:r>
          </a:p>
        </p:txBody>
      </p:sp>
      <p:sp>
        <p:nvSpPr>
          <p:cNvPr id="24" name="Up Arrow Callout 23"/>
          <p:cNvSpPr/>
          <p:nvPr/>
        </p:nvSpPr>
        <p:spPr>
          <a:xfrm>
            <a:off x="245607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POWER DISTRIBUTION</a:t>
            </a:r>
          </a:p>
        </p:txBody>
      </p:sp>
      <p:sp>
        <p:nvSpPr>
          <p:cNvPr id="25" name="Up Arrow Callout 24"/>
          <p:cNvSpPr/>
          <p:nvPr/>
        </p:nvSpPr>
        <p:spPr>
          <a:xfrm>
            <a:off x="489386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CLIMATE CONTROL</a:t>
            </a:r>
          </a:p>
        </p:txBody>
      </p:sp>
      <p:sp>
        <p:nvSpPr>
          <p:cNvPr id="26" name="Up Arrow Callout 25"/>
          <p:cNvSpPr/>
          <p:nvPr/>
        </p:nvSpPr>
        <p:spPr>
          <a:xfrm>
            <a:off x="733165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IT INFRASTRUCTURE</a:t>
            </a:r>
          </a:p>
        </p:txBody>
      </p:sp>
      <p:sp>
        <p:nvSpPr>
          <p:cNvPr id="27" name="Up Arrow Callout 26"/>
          <p:cNvSpPr/>
          <p:nvPr/>
        </p:nvSpPr>
        <p:spPr>
          <a:xfrm>
            <a:off x="9769448" y="6437376"/>
            <a:ext cx="2401214" cy="246888"/>
          </a:xfrm>
          <a:prstGeom prst="upArrowCallou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5080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SOFTWARE &amp;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702552"/>
            <a:ext cx="228600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FRIEDHELM LOH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702552"/>
            <a:ext cx="475488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R&amp;D RAS  |  15.07.2026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702552"/>
            <a:ext cx="365760" cy="137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700" b="0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9  Current Status (Jul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Where the System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Task is semantic segmentation of the terminal surface, not keypoint regression -- this pivot is what made the results defensible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Pipeline: STEP -&gt; isotropic remesh (6000 vertices) -&gt; 4-model DiffusionNet ensemble -&gt; opening extraction -&gt; wire/tool gate -&gt; robot-ready connection points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Segmentation (the thesis's own metric): accuracy 0.858, mean IoU 0.680 vs the reference thesis 0.514 -- the benchmark goal is met and exceeded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Connection points, running pipeline, corpus-weighted: CP-F1 0.760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Robot contract unchanged: entry point + approach vector + insertion axis + depth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All numbers below are leakage-free (GroupKFold by product family, out-of-fold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10  How to Read Our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One Metric, Three Frames -- Always Stated Explicitly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Development (WORK, out-of-fold): CP-F1 0.828 -- used to compare ideas, NOT a product claim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Running pipeline (what the robot actually executes today): CP-F1 0.760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Locked holdout (single shot, never reused): CP-F1 0.760 -- this is the product number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Development measurement runs about 3x more optimistic than the holdout. We learned this the hard way: a change that gained +0.012 in development lost 0.029 on the holdout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Rule we now follow: quote the frame with every number, and never iterate on the holdout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11  The Two Regimes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E7D32"/>
                </a:solidFill>
                <a:latin typeface="Calibri"/>
              </a:rPr>
              <a:t>One Average Was Hiding Two Different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Terminals split by how many connection points they have, and the two halves fail for OPPOSITE reasons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Low-CP parts (under 8 CPs) = 89.5% of the catalog: CP-F1 0.775, limited by PRECISION -- the model finds openings that are not wire entries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High-CP parts (8 or more) = 10.5%: CP-F1 0.626, limited by RECALL -- the openings are too small to survive the mesh at a fixed vertex budget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Root cause on the high-CP side is arithmetic, not intelligence: 82.7% of their openings hold fewer than 30 vertices, and the filter required 30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Reporting rule that came out of this: never quote a flat average over a skewed sample -- weight by the real catalog mix, or the headline is wrong by 0.10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12  What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B03A2E"/>
                </a:solidFill>
                <a:latin typeface="Calibri"/>
              </a:rPr>
              <a:t>Solid, Defensible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Segmentation beats the reference thesis on its own metric: 0.680 vs 0.514 mean IoU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All five classes reach the thesis's own production bar (IoU &gt;= 0.50), which the reference itself missed on 3 of 5 classes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Uniform isotropic remeshing closed the CAD-vs-scan domain gap -- the single change that made training transfer at all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Wire/tool gate (random forest on structural features): precision 0.61 -&gt; 0.75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Growing the corpus 914 -&gt; 1753 parts: +0.011 CP-F1. The data lever is alive, but the curve is clearly flattening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B03A2E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Every drawing the robot produces is verified by an INDEPENDENT auditor that re-reads the file from disk; non-compliant output is deleted, not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13  What Did Not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Dead Ends We Ruled Out by Measurement, Not by Opinion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CAD pseudo-labels as the training target -- they agree with human ground truth at only F1 0.46. A data ceiling; no model or tuning closes it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Pure geometry as a stand-alone detector -- best F1 0.400 against 0.82 for the ML branch. It can FIND openings (recall 0.86) but cannot say which one takes a wire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Human labelling as the next lever -- a blind test showed the MODEL beats the human annotator (86.5% vs 79.5% on the same 156 openings)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Threshold tuning -- now formally exhausted: with family-out nested selection the deployed thresholds are already optimal (gain +0.000 on high-CP)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X  </a:t>
            </a:r>
            <a:r>
              <a:rPr sz="1500">
                <a:solidFill>
                  <a:srgbClr val="404040"/>
                </a:solidFill>
                <a:latin typeface="Calibri"/>
              </a:rPr>
              <a:t>Ten further levers measured and killed, each against a kill criterion written BEFORE the measurement: B-rep features, channel profiling, finer tessellation, hole-preserving remesh, adaptive density, high-CP fine-tuning, and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14  Bugs That Cost Us the Most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All Four Had the Same Signature: Failing Silently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A missing geometry package made every ray/containment call throw -- and a broad 'except: continue' swallowed it. Two geometry helpers returned their input unchanged and looked successful. Replaced with our own ray intersection code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The visualisation's self-check used that same broken call and printed '8/8 passed'. Verification cannot live inside the code it verifies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A mesher handle was not released on failure, so ONE unmeshable file made every later part crawl: 3 hours of zero progress with no error message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Remeshing was non-deterministic ACROSS PROCESSES. Our determinism test ran three times in ONE process and therefore tested nothing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Six measurement artifacts came from our own diagnostic code, never from the data. Standing rule: when production and diagnostics disagree, suspect the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15  The Ceilings -- What Actually Limits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Measured Limits, Not Guesses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Wire entry vs tool opening is a FUNCTIONAL distinction, not a geometric one. The reference thesis merges them into one class by design, so geometry cannot separate them (AUC 0.61)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Information wall: letting the model see the very parts it is scored on gains only +0.003, while +0.151 remains to the candidate ceiling. The answer is not in what we show the model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Perfect-gate ceiling is 0.894-0.95, but the surviving false positives are real openings that simply do not take a wire -- geometrically identical to true ones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Practical ceiling for the low-CP majority is therefore reached; the honest remaining lever is the high-CP minority and more DATA, not more model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The 0.85 target was our own, not the thesis's. The thesis benchmark (0.514 mean IoU) is met and exceeded; CP-F1 is now a product improvement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3  How It Works (current, simplified)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Calibri"/>
              </a:rPr>
              <a:t>From CAD File to Robot Coordinates - 5 Steps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CAD -&gt; Mesh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STEP file is tessellated and uniformly remeshed to ~6000 points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Segment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4 neural nets label every point: housing / contact / snap-point / cable-entry / label-surface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Group Openings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Cable-entry + contact points are clustered into individual physical openings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891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One CP per Opening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Each opening -&gt; mouth position + insertion axis + depth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8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Robot JSON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Output: where to go, which direction, how deep (robot-ready)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5  Robot Validation (simplified)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Calibri"/>
              </a:rPr>
              <a:t>A CP Is Accepted Only If It Passes 5 Physical Checks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Not too tilted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skew angle &lt;= 75 deg -- the tool can align to the opening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Big enough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feature area &gt;= minimum -- a real opening, not mesh noise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204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Deep enough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insertion depth &gt;= minimum -- a real channel, not a shallow dimple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3891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Confident enough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detector score &gt;= threshold -- the model is sure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2578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2D"/>
                </a:solidFill>
                <a:latin typeface="Calibri"/>
              </a:rPr>
              <a:t>Reachable</a:t>
            </a:r>
          </a:p>
          <a:p>
            <a:r>
              <a:rPr sz="1300">
                <a:solidFill>
                  <a:srgbClr val="404040"/>
                </a:solidFill>
                <a:latin typeface="Calibri"/>
              </a:rPr>
              <a:t>clearance &gt;= tool width -- the tool physically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27.07.2026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16  Deployment Gap -- Measured vs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The Robot Was Not Getting What We Had Already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A config-only 'product change' turned out to be a lie: the robot code never read the new setting. It was measured, recorded, and never actually deployed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!  </a:t>
            </a:r>
            <a:r>
              <a:rPr sz="1500">
                <a:solidFill>
                  <a:srgbClr val="404040"/>
                </a:solidFill>
                <a:latin typeface="Calibri"/>
              </a:rPr>
              <a:t>A routing component was trained on one input and fed a different one at runtime, so it stayed switched OFF exactly on the parts that needed it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After wiring both correctly: high-CP CP-F1 0.515 -&gt; 0.626, low-CP untouched at 0.775, corpus-weighted 0.748 -&gt; 0.760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OK  </a:t>
            </a:r>
            <a:r>
              <a:rPr sz="1500">
                <a:solidFill>
                  <a:srgbClr val="404040"/>
                </a:solidFill>
                <a:latin typeface="Calibri"/>
              </a:rPr>
              <a:t>Worst affected part went from CP-F1 0.273 to 0.737 with no model change at all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Lesson: a measured improvement is not a delivered improvement. We now verify the running pipeline, not the configuration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17  What the Robot Sees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Robot-Only View Is Now the Default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On a new, unseen terminal there IS no manufacturer reference -- so the default drawing shows only the connection points the robot itself placed, in one colour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The comparison view (manufacturer vs robot, colour-coded hit/miss) is still available, but it is a diagnostic tool for us, not the product output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Each connection point is drawn as a needle that passes through the body and protrudes on both sides, so it stays visible on 8 mm thin terminals in any viewer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Every file is checked against a 9-rule drawing contract by an independent auditor that re-reads it from disk; a file that fails is deleted rather than shown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The auditor is itself mutation-tested: we corrupt the record on purpose and confirm it still refuses to pass (7 of 7 caught)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D2D2D"/>
                </a:solidFill>
                <a:latin typeface="Calibri"/>
              </a:rPr>
              <a:t>18 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2011680" cy="54864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  <a:latin typeface="Calibri"/>
              </a:rPr>
              <a:t>Where the Remaining Value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More data, targeted at the high-CP minority -- the only lever still measurably alive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Adaptive vertex budget so small openings survive the mesh (the 30-vertex arithmetic problem)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A wire-specific signal to separate wire entries from tool openings -- this is the one thing that would move the precision ceiling, and geometry cannot supply it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Retrain the wire/tool gate on the grown corpus: it is still trained on 823 parts while the corpus now holds 1753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090D0"/>
                </a:solidFill>
                <a:latin typeface="Calibri"/>
              </a:rPr>
              <a:t>*  </a:t>
            </a:r>
            <a:r>
              <a:rPr sz="1500">
                <a:solidFill>
                  <a:srgbClr val="404040"/>
                </a:solidFill>
                <a:latin typeface="Calibri"/>
              </a:rPr>
              <a:t>Keep the discipline: kill criteria written before the measurement, regime-split reporting, and the holdout spent exactly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09090"/>
                </a:solidFill>
                <a:latin typeface="Calibri"/>
              </a:rPr>
              <a:t>WiringRobot.ConnectionPointDetector  |  Friedhelm Loh Group  R&amp;D RAS  |  29.07.2026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a28a66c-3c7f-463f-9f3d-483220f1d838}" enabled="1" method="Standard" siteId="{a8218bc3-7d4c-4a61-b912-a6ca487118d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2678</Words>
  <Application>Microsoft Office PowerPoint</Application>
  <PresentationFormat>Custom</PresentationFormat>
  <Paragraphs>502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Bora Ilban Bayrakci</cp:lastModifiedBy>
  <cp:revision>1</cp:revision>
  <dcterms:created xsi:type="dcterms:W3CDTF">2013-01-27T09:14:16Z</dcterms:created>
  <dcterms:modified xsi:type="dcterms:W3CDTF">2026-06-11T08:17:22Z</dcterms:modified>
  <cp:category/>
</cp:coreProperties>
</file>